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B97E5-AB30-4B53-A70A-0A7835A46C60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8E1DF-5691-4AED-9CC9-9D6CF77DC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02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8E1DF-5691-4AED-9CC9-9D6CF77DCCC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5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66315"/>
                </a:solidFill>
                <a:latin typeface="Segoe UI"/>
              </a:defRPr>
            </a:pPr>
            <a:r>
              <a:rPr dirty="0"/>
              <a:t>BÁO CÁO MÔN HỌC THỰC TẬP CƠ SỞ</a:t>
            </a:r>
          </a:p>
          <a:p>
            <a:pPr>
              <a:spcBef>
                <a:spcPts val="12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XÂY DỰNG WEBSITE CỬA HÀNG DỤNG CỤ CẦU </a:t>
            </a:r>
            <a:r>
              <a:rPr dirty="0" smtClean="0"/>
              <a:t>LÔNG</a:t>
            </a:r>
            <a:r>
              <a:rPr dirty="0"/>
              <a:t/>
            </a:r>
            <a:br>
              <a:rPr dirty="0"/>
            </a:br>
            <a:r>
              <a:rPr dirty="0"/>
              <a:t>TÍCH HỢP HỆ THỐNG GỢI Ý SẢN PHẨM AI THÔNG MINH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640080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5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: Do </a:t>
            </a:r>
            <a:r>
              <a:rPr dirty="0" err="1"/>
              <a:t>Hà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 Minh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: B23DCCN543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môn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: </a:t>
            </a:r>
            <a:r>
              <a:rPr lang="vi-VN" dirty="0" smtClean="0"/>
              <a:t>09</a:t>
            </a:r>
            <a:r>
              <a:rPr dirty="0" smtClean="0"/>
              <a:t>  </a:t>
            </a:r>
            <a:r>
              <a:rPr dirty="0"/>
              <a:t>|  </a:t>
            </a:r>
            <a:r>
              <a:rPr dirty="0" err="1"/>
              <a:t>Giảng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dẫn</a:t>
            </a:r>
            <a:r>
              <a:rPr dirty="0"/>
              <a:t>: </a:t>
            </a:r>
            <a:r>
              <a:rPr lang="vi-VN" dirty="0" smtClean="0"/>
              <a:t>Nguyễn Hoàng Anh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rPr dirty="0" err="1" smtClean="0"/>
              <a:t>Khoa</a:t>
            </a:r>
            <a:r>
              <a:rPr dirty="0" smtClean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nghệ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1 -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viện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nghệ</a:t>
            </a:r>
            <a:r>
              <a:rPr dirty="0"/>
              <a:t> </a:t>
            </a:r>
            <a:r>
              <a:rPr dirty="0" err="1"/>
              <a:t>Bưu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Viễn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(PTIT)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Năm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: </a:t>
            </a:r>
            <a:r>
              <a:rPr dirty="0" err="1"/>
              <a:t>Hà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Đặt Vấn Đề &amp; Lý Do Chọn Đề Tài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cáo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sở</a:t>
            </a:r>
            <a:r>
              <a:rPr dirty="0"/>
              <a:t> | SV: Do </a:t>
            </a:r>
            <a:r>
              <a:rPr dirty="0" err="1"/>
              <a:t>Hà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 Minh - B23DCCN543 |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0" i="0">
                <a:solidFill>
                  <a:srgbClr val="212529"/>
                </a:solidFill>
                <a:latin typeface="Segoe UI"/>
              </a:defRPr>
            </a:pPr>
            <a:r>
              <a:t>Sự bùng nổ của bộ môn cầu lông kéo theo nhu cầu mua sắm thiết bị chính hãng tăng mạnh.</a:t>
            </a:r>
          </a:p>
          <a:p>
            <a:pPr>
              <a:spcBef>
                <a:spcPts val="1000"/>
              </a:spcBef>
              <a:defRPr sz="1500" b="0" i="0">
                <a:solidFill>
                  <a:srgbClr val="212529"/>
                </a:solidFill>
                <a:latin typeface="Segoe UI"/>
              </a:defRPr>
            </a:pPr>
            <a:r>
              <a:t>Sản phẩm cầu lông có thông số kỹ thuật động vô cùng phức tạp và mang tính chuyên môn cao:</a:t>
            </a:r>
          </a:p>
          <a:p>
            <a:pPr>
              <a:spcBef>
                <a:spcPts val="400"/>
              </a:spcBef>
              <a:defRPr sz="1450" b="0" i="1">
                <a:solidFill>
                  <a:srgbClr val="212529"/>
                </a:solidFill>
                <a:latin typeface="Segoe UI"/>
              </a:defRPr>
            </a:pPr>
            <a:r>
              <a:t>  - Vợt cầu lông: Trọng lượng (3U/4U/5U), độ cứng thân, mức căng tối đa, lối chơi (Công/Thủ).</a:t>
            </a:r>
          </a:p>
          <a:p>
            <a:pPr>
              <a:spcBef>
                <a:spcPts val="400"/>
              </a:spcBef>
              <a:defRPr sz="1450" b="0" i="1">
                <a:solidFill>
                  <a:srgbClr val="212529"/>
                </a:solidFill>
                <a:latin typeface="Segoe UI"/>
              </a:defRPr>
            </a:pPr>
            <a:r>
              <a:t>  - Giày cầu lông: Công nghệ đế, đệm giảm chấn hấp thụ lực va chạm khi bật nhảy đập cầu.</a:t>
            </a:r>
          </a:p>
          <a:p>
            <a:pPr>
              <a:spcBef>
                <a:spcPts val="400"/>
              </a:spcBef>
              <a:defRPr sz="1450" b="0" i="1">
                <a:solidFill>
                  <a:srgbClr val="212529"/>
                </a:solidFill>
                <a:latin typeface="Segoe UI"/>
              </a:defRPr>
            </a:pPr>
            <a:r>
              <a:t>  - Ống cầu lông: Tốc độ bay (74/75/76), chất liệu cánh cầu (lông ngỗng, lông vịt).</a:t>
            </a:r>
          </a:p>
          <a:p>
            <a:pPr>
              <a:spcBef>
                <a:spcPts val="1000"/>
              </a:spcBef>
              <a:defRPr sz="1500" b="0" i="0">
                <a:solidFill>
                  <a:srgbClr val="212529"/>
                </a:solidFill>
                <a:latin typeface="Segoe UI"/>
              </a:defRPr>
            </a:pPr>
            <a:r>
              <a:t>Nỗi đau của khách hàng: Người chơi mới (Newbies) bị hoang mang trước thông số, khó tự chọn sản phẩm phù hợp lối đánh.</a:t>
            </a:r>
          </a:p>
          <a:p>
            <a:pPr>
              <a:spcBef>
                <a:spcPts val="1000"/>
              </a:spcBef>
              <a:defRPr sz="1500" b="0" i="0">
                <a:solidFill>
                  <a:srgbClr val="212529"/>
                </a:solidFill>
                <a:latin typeface="Segoe UI"/>
              </a:defRPr>
            </a:pPr>
            <a:r>
              <a:t>Hạn chế web cũ: Chỉ hiển thị danh sách tĩnh, thiếu cá nhân hóa hỗ trợ tư vấn chọn sản phẩm.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Giải pháp Smash Zone: Xây dựng web tích hợp AI Recommender làm trợ lý tư vấn lối chơi thông minh.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Giải Pháp Gợi Ý: Động Cơ AI Lõi &amp; Các Khối Bổ Trợ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50" b="0" i="0">
                <a:solidFill>
                  <a:srgbClr val="212529"/>
                </a:solidFill>
                <a:latin typeface="Segoe UI"/>
              </a:defRPr>
            </a:pPr>
            <a:r>
              <a:t>Động cơ gợi ý của Smash Zone được chia làm 2 tầng rõ rệt để tối ưu hóa hiệu năng và độ chính xác: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Phân Hệ AI Lõi (Core AI Engine)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Áp dụng học máy NLP (TF-IDF &amp; Cosine Similarity) chạy trên Python để tìm kiếm sản phẩm tương đương về thông số kỹ thuật động và lối chơi.</a:t>
            </a:r>
          </a:p>
          <a:p>
            <a:pPr>
              <a:spcBef>
                <a:spcPts val="2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Thuật toán phân tích sâu các đặc tính đặc thù của vợt/giày cầu lông để đưa ra gợi ý chuyên môn.</a:t>
            </a:r>
          </a:p>
          <a:p>
            <a:pPr>
              <a:spcBef>
                <a:spcPts val="14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Các Khối Bổ Trợ Dựa Trên CSDL (Non-AI Modules)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Collaborative Filtering: Gợi ý mua kèm dựa trên hành vi mua sắm chéo của cộng đồng qua SQL JOIN.</a:t>
            </a:r>
          </a:p>
          <a:p>
            <a:pPr>
              <a:spcBef>
                <a:spcPts val="2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Trending Products: Gợi ý bán chạy nhất qua lệnh SQL COUNT, giải quyết bài toán Cold-Start cho khách mới chưa có dữ liệu.</a:t>
            </a:r>
          </a:p>
        </p:txBody>
      </p:sp>
      <p:pic>
        <p:nvPicPr>
          <p:cNvPr id="7" name="Picture 6" descr="hybrid_recommender_system_1781517339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Bước 1: Thiết Kế Bộ Dữ Liệu Đầu Vào (Input Dataset)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50" b="1" i="0">
                <a:solidFill>
                  <a:srgbClr val="212529"/>
                </a:solidFill>
                <a:latin typeface="Segoe UI"/>
              </a:defRPr>
            </a:pPr>
            <a:r>
              <a:t>Dữ liệu đầu vào phục vụ gợi ý được thiết kế lưu trữ trong bảng products của MySQL Server 8.0: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1. Trường specific_attributes (Dạng JSON):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Lưu trữ các cặp thông số kỹ thuật động riêng biệt của từng loại sản phẩm (Vợt, Giày, Cầu) dưới dạng Key-Value để hiển thị chi tiết.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2. Trường metadata_for_ai (Dạng TEXT - NLP Corpus):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Chuỗi chứa văn bản tổng hợp của sản phẩm để mô hình AI vector hóa (ví dụ: tên, danh mục, lối đánh...).</a:t>
            </a:r>
          </a:p>
          <a:p>
            <a:pPr>
              <a:spcBef>
                <a:spcPts val="2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Là nguồn cấp dữ liệu trực tiếp cho mô hình AI Content-Based.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393192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F66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192F"/>
                </a:solidFill>
                <a:latin typeface="Segoe UI"/>
              </a:defRPr>
            </a:pPr>
            <a:r>
              <a:t>Ví Dụ Chuỗi Mô Tả Metadata For AI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"Vợt cầu lông Yonex Astrox Lite 45i Scarlet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 Danh mục: Vợt cầu lông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 Thông số: Trọng lượng 4U Độ cứng Trung bình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 Mức căng 20-28 lbs Lối chơi Thiên công"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==&gt; Chuyển đổi thành vector số dựa trên các từ khóa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    chuyên ngành cốt lõi đã được tính toán trọng số TF-IDF.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Bước 2: Thuật Toán AI - Cơ Chế Vector Hóa TF-IDF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50" b="0" i="0">
                <a:solidFill>
                  <a:srgbClr val="212529"/>
                </a:solidFill>
                <a:latin typeface="Segoe UI"/>
              </a:defRPr>
            </a:pPr>
            <a:r>
              <a:t>Mô hình NLP chuyển đổi chuỗi văn bản đặc trưng sản phẩm cầu lông thành vector số học: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1. TF (Term Frequency - Tần suất xuất hiện của từ):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Đo tần suất từ khóa kỹ thuật xuất hiện trong sản phẩm đó. Từ xuất hiện nhiều có trọng số lớn.</a:t>
            </a:r>
          </a:p>
          <a:p>
            <a:pPr>
              <a:spcBef>
                <a:spcPts val="200"/>
              </a:spcBef>
              <a:defRPr sz="1400" b="0" i="1">
                <a:solidFill>
                  <a:srgbClr val="0A192F"/>
                </a:solidFill>
                <a:latin typeface="Segoe UI"/>
              </a:defRPr>
            </a:pPr>
            <a:r>
              <a:t>     TF(t, d) = (Số lần từ t xuất hiện trong tài liệu d) / (Tổng số từ trong tài liệu d)</a:t>
            </a:r>
          </a:p>
          <a:p>
            <a:pPr>
              <a:spcBef>
                <a:spcPts val="14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2. IDF (Inverse Document Frequency - Tần suất nghịch đảo):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Giảm trọng số của các từ phổ biến xuất hiện ở mọi nơi ('sản phẩm', 'đẹp', 'chính hãng').</a:t>
            </a:r>
          </a:p>
          <a:p>
            <a:pPr>
              <a:spcBef>
                <a:spcPts val="2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Tăng vọt trọng số các từ chuyên sâu đặc thù xuất hiện ít ('nặng đầu', 'thiên công', 'tru cushion').</a:t>
            </a:r>
          </a:p>
          <a:p>
            <a:pPr>
              <a:spcBef>
                <a:spcPts val="200"/>
              </a:spcBef>
              <a:defRPr sz="1400" b="0" i="1">
                <a:solidFill>
                  <a:srgbClr val="0A192F"/>
                </a:solidFill>
                <a:latin typeface="Segoe UI"/>
              </a:defRPr>
            </a:pPr>
            <a:r>
              <a:t>     IDF(t, D) = log( Tổng số tài liệu D / (1 + Số tài liệu chứa từ t) )</a:t>
            </a:r>
          </a:p>
          <a:p>
            <a:pPr>
              <a:spcBef>
                <a:spcPts val="1200"/>
              </a:spcBef>
              <a:defRPr sz="1450" b="1" i="0">
                <a:solidFill>
                  <a:srgbClr val="212529"/>
                </a:solidFill>
                <a:latin typeface="Segoe UI"/>
              </a:defRPr>
            </a:pPr>
            <a:r>
              <a:t>==&gt; Trọng số TF-IDF = TF * IDF đại diện chính xác đặc tính kỹ thuật của sản phẩm.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Bước 2: Thuật Toán AI - Công Thức Tính Cosine Similarity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50" b="0" i="0">
                <a:solidFill>
                  <a:srgbClr val="212529"/>
                </a:solidFill>
                <a:latin typeface="Segoe UI"/>
              </a:defRPr>
            </a:pPr>
            <a:r>
              <a:t>Tính toán góc lệch giữa hai vector số TF-IDF của sản phẩm A và B trong không gian đặc trưng đa chiều: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Công thức toán học tính Cosine Similarity:</a:t>
            </a:r>
          </a:p>
          <a:p>
            <a:pPr>
              <a:spcBef>
                <a:spcPts val="400"/>
              </a:spcBef>
              <a:defRPr sz="1450" b="1" i="0">
                <a:solidFill>
                  <a:srgbClr val="0A192F"/>
                </a:solidFill>
                <a:latin typeface="Segoe UI"/>
              </a:defRPr>
            </a:pPr>
            <a:r>
              <a:t>  Cosine Similarity(A, B) = (A . B) / (||A|| * ||B||)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Phân tích ý nghĩa điểm số tương đồng: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Kết quả là điểm số nằm trong khoảng [0, 1].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Càng gần 1: Hai sản phẩm có thông số kỹ thuật động và lối đánh cực kỳ tương đồng.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Càng gần 0: Hai sản phẩm hoàn toàn khác biệt nhau về thuộc tính.</a:t>
            </a:r>
          </a:p>
        </p:txBody>
      </p:sp>
      <p:pic>
        <p:nvPicPr>
          <p:cNvPr id="7" name="Picture 6" descr="cosine_similarity_diagram_1781517352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Bước 2: Thuật Toán AI - Pipeline Python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50" b="1" i="0">
                <a:solidFill>
                  <a:srgbClr val="212529"/>
                </a:solidFill>
                <a:latin typeface="Segoe UI"/>
              </a:defRPr>
            </a:pP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offline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kỳ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Python script (thuat_toan_content.py):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Step 1: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DB MySQL qua </a:t>
            </a:r>
            <a:r>
              <a:rPr dirty="0" err="1"/>
              <a:t>mysql.connector</a:t>
            </a:r>
            <a:r>
              <a:rPr dirty="0"/>
              <a:t>, </a:t>
            </a:r>
            <a:r>
              <a:rPr dirty="0" err="1"/>
              <a:t>tải</a:t>
            </a:r>
            <a:r>
              <a:rPr dirty="0"/>
              <a:t> </a:t>
            </a:r>
            <a:r>
              <a:rPr dirty="0" err="1"/>
              <a:t>cột</a:t>
            </a:r>
            <a:r>
              <a:rPr dirty="0"/>
              <a:t> </a:t>
            </a:r>
            <a:r>
              <a:rPr dirty="0" err="1"/>
              <a:t>metadata_for_ai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Step 2: Vector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chuỗi</a:t>
            </a:r>
            <a:r>
              <a:rPr dirty="0"/>
              <a:t> metadata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TfidfVectorizer</a:t>
            </a:r>
            <a:r>
              <a:rPr dirty="0"/>
              <a:t> (</a:t>
            </a:r>
            <a:r>
              <a:rPr dirty="0" err="1"/>
              <a:t>thư</a:t>
            </a:r>
            <a:r>
              <a:rPr dirty="0"/>
              <a:t> </a:t>
            </a:r>
            <a:r>
              <a:rPr dirty="0" err="1"/>
              <a:t>viện</a:t>
            </a:r>
            <a:r>
              <a:rPr dirty="0"/>
              <a:t> </a:t>
            </a:r>
            <a:r>
              <a:rPr dirty="0" err="1"/>
              <a:t>Scikit</a:t>
            </a:r>
            <a:r>
              <a:rPr dirty="0"/>
              <a:t>-learn).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Step 3: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ma </a:t>
            </a:r>
            <a:r>
              <a:rPr dirty="0" err="1"/>
              <a:t>trận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tương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chéo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cosine_similarity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Step 4: </a:t>
            </a:r>
            <a:r>
              <a:rPr dirty="0" err="1"/>
              <a:t>Lọc</a:t>
            </a:r>
            <a:r>
              <a:rPr dirty="0"/>
              <a:t> </a:t>
            </a:r>
            <a:r>
              <a:rPr dirty="0" err="1"/>
              <a:t>lấy</a:t>
            </a:r>
            <a:r>
              <a:rPr dirty="0"/>
              <a:t> Top 4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tương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gốc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Step 5: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clearRecommendations</a:t>
            </a:r>
            <a:r>
              <a:rPr dirty="0"/>
              <a:t>()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nạp</a:t>
            </a:r>
            <a:r>
              <a:rPr dirty="0"/>
              <a:t> </a:t>
            </a:r>
            <a:r>
              <a:rPr dirty="0" err="1"/>
              <a:t>đè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product_recommendations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32" y="1206929"/>
            <a:ext cx="4507767" cy="24537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732" y="3876699"/>
            <a:ext cx="4507767" cy="283511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74148"/>
            <a:ext cx="6280522" cy="13462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Bước 3: Kết Quả Tính Toán Của Thuật Toán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3500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50" b="1" i="0">
                <a:solidFill>
                  <a:srgbClr val="212529"/>
                </a:solidFill>
                <a:latin typeface="Segoe UI"/>
              </a:defRPr>
            </a:pP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Python Engine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MySQL: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rPr dirty="0"/>
              <a:t>1.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product_recommendations</a:t>
            </a:r>
            <a:r>
              <a:rPr dirty="0"/>
              <a:t>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product_id</a:t>
            </a:r>
            <a:r>
              <a:rPr dirty="0"/>
              <a:t>: ID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gốc</a:t>
            </a:r>
            <a:r>
              <a:rPr dirty="0"/>
              <a:t> 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đang</a:t>
            </a:r>
            <a:r>
              <a:rPr dirty="0"/>
              <a:t> </a:t>
            </a:r>
            <a:r>
              <a:rPr dirty="0" err="1"/>
              <a:t>xem</a:t>
            </a:r>
            <a:r>
              <a:rPr dirty="0"/>
              <a:t>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recommended_product_id</a:t>
            </a:r>
            <a:r>
              <a:rPr dirty="0"/>
              <a:t>: ID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tương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similarity_score</a:t>
            </a:r>
            <a:r>
              <a:rPr dirty="0"/>
              <a:t> (DOUBLE):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tương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Cosine (0 </a:t>
            </a:r>
            <a:r>
              <a:rPr dirty="0" err="1"/>
              <a:t>đến</a:t>
            </a:r>
            <a:r>
              <a:rPr dirty="0"/>
              <a:t> 1).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rPr dirty="0"/>
              <a:t>2. </a:t>
            </a:r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Vợt</a:t>
            </a:r>
            <a:r>
              <a:rPr dirty="0"/>
              <a:t> Scarlet (ID=1) vs </a:t>
            </a:r>
            <a:r>
              <a:rPr dirty="0" err="1"/>
              <a:t>Vợt</a:t>
            </a:r>
            <a:r>
              <a:rPr dirty="0"/>
              <a:t> Dark/Grey (ID=2)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similarity_score</a:t>
            </a:r>
            <a:r>
              <a:rPr dirty="0"/>
              <a:t> = 0.85 (</a:t>
            </a:r>
            <a:r>
              <a:rPr dirty="0" err="1"/>
              <a:t>Khuyên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).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Vợt</a:t>
            </a:r>
            <a:r>
              <a:rPr dirty="0"/>
              <a:t> Scarlet (ID=1) vs </a:t>
            </a:r>
            <a:r>
              <a:rPr dirty="0" err="1"/>
              <a:t>Vợt</a:t>
            </a:r>
            <a:r>
              <a:rPr dirty="0"/>
              <a:t> </a:t>
            </a:r>
            <a:r>
              <a:rPr dirty="0" err="1"/>
              <a:t>Thiên</a:t>
            </a:r>
            <a:r>
              <a:rPr dirty="0"/>
              <a:t> </a:t>
            </a:r>
            <a:r>
              <a:rPr dirty="0" err="1"/>
              <a:t>thủ</a:t>
            </a:r>
            <a:r>
              <a:rPr dirty="0"/>
              <a:t> (ID=5)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similarity_score</a:t>
            </a:r>
            <a:r>
              <a:rPr dirty="0"/>
              <a:t> = 0.22 (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tương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lối</a:t>
            </a:r>
            <a:r>
              <a:rPr dirty="0"/>
              <a:t> </a:t>
            </a:r>
            <a:r>
              <a:rPr dirty="0" err="1"/>
              <a:t>chơi</a:t>
            </a:r>
            <a:r>
              <a:rPr dirty="0"/>
              <a:t>).</a:t>
            </a:r>
          </a:p>
          <a:p>
            <a:pPr>
              <a:spcBef>
                <a:spcPts val="1200"/>
              </a:spcBef>
              <a:defRPr sz="1450" b="1" i="0">
                <a:solidFill>
                  <a:srgbClr val="F66315"/>
                </a:solidFill>
                <a:latin typeface="Segoe UI"/>
              </a:defRPr>
            </a:pPr>
            <a:endParaRPr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371600"/>
            <a:ext cx="5964557" cy="24442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Bước 4: Ứng Dụng Vào Web - Tích Hợp AI Lõi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3052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50" b="1" i="0">
                <a:solidFill>
                  <a:srgbClr val="212529"/>
                </a:solidFill>
                <a:latin typeface="Segoe UI"/>
              </a:defRPr>
            </a:pP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tải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AI </a:t>
            </a:r>
            <a:r>
              <a:rPr dirty="0" err="1"/>
              <a:t>lên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Web: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rPr dirty="0"/>
              <a:t>1.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(</a:t>
            </a:r>
            <a:r>
              <a:rPr dirty="0" err="1"/>
              <a:t>Tầng</a:t>
            </a:r>
            <a:r>
              <a:rPr dirty="0"/>
              <a:t> DAO):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getSimilarProductsByContent</a:t>
            </a:r>
            <a:r>
              <a:rPr dirty="0"/>
              <a:t>(</a:t>
            </a:r>
            <a:r>
              <a:rPr dirty="0" err="1"/>
              <a:t>productId</a:t>
            </a:r>
            <a:r>
              <a:rPr dirty="0"/>
              <a:t>, limit): </a:t>
            </a:r>
            <a:r>
              <a:rPr dirty="0" err="1"/>
              <a:t>Đọc</a:t>
            </a:r>
            <a:r>
              <a:rPr dirty="0"/>
              <a:t> </a:t>
            </a:r>
            <a:r>
              <a:rPr dirty="0" err="1"/>
              <a:t>nhanh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tương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CSDL </a:t>
            </a:r>
            <a:r>
              <a:rPr dirty="0" err="1"/>
              <a:t>dựa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similarity_score</a:t>
            </a:r>
            <a:r>
              <a:rPr dirty="0"/>
              <a:t>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dần</a:t>
            </a:r>
            <a:r>
              <a:rPr dirty="0"/>
              <a:t>.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rPr dirty="0"/>
              <a:t>2. </a:t>
            </a: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phối</a:t>
            </a:r>
            <a:r>
              <a:rPr dirty="0"/>
              <a:t>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(</a:t>
            </a:r>
            <a:r>
              <a:rPr dirty="0" err="1"/>
              <a:t>Tầng</a:t>
            </a:r>
            <a:r>
              <a:rPr dirty="0"/>
              <a:t> Servlet):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ProductDetailServlet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request, </a:t>
            </a:r>
            <a:r>
              <a:rPr dirty="0" err="1"/>
              <a:t>gọi</a:t>
            </a:r>
            <a:r>
              <a:rPr dirty="0"/>
              <a:t> DAO </a:t>
            </a:r>
            <a:r>
              <a:rPr dirty="0" err="1"/>
              <a:t>lấy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gợi</a:t>
            </a:r>
            <a:r>
              <a:rPr dirty="0"/>
              <a:t> ý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đẩy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 JSP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.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rPr dirty="0"/>
              <a:t>3.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chế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phòng</a:t>
            </a:r>
            <a:r>
              <a:rPr dirty="0"/>
              <a:t> Fallback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Nếu</a:t>
            </a:r>
            <a:r>
              <a:rPr dirty="0"/>
              <a:t> DB </a:t>
            </a:r>
            <a:r>
              <a:rPr dirty="0" err="1"/>
              <a:t>trống</a:t>
            </a:r>
            <a:r>
              <a:rPr dirty="0"/>
              <a:t> (AI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), Servlet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lấy</a:t>
            </a:r>
            <a:r>
              <a:rPr dirty="0"/>
              <a:t> 4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 (</a:t>
            </a:r>
            <a:r>
              <a:rPr dirty="0" err="1"/>
              <a:t>getProductsByCategoryId</a:t>
            </a:r>
            <a:r>
              <a:rPr dirty="0"/>
              <a:t>)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gợi</a:t>
            </a:r>
            <a:r>
              <a:rPr dirty="0"/>
              <a:t> ý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phòng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1404215"/>
            <a:ext cx="5636315" cy="15114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3250075"/>
            <a:ext cx="5636315" cy="29872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Bước 4: Ứng Dụng Vào Web - Các Khối Bổ Trợ Bằng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rPr dirty="0" err="1"/>
              <a:t>Bên</a:t>
            </a:r>
            <a:r>
              <a:rPr dirty="0"/>
              <a:t> </a:t>
            </a:r>
            <a:r>
              <a:rPr dirty="0" err="1"/>
              <a:t>cạnh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 AI </a:t>
            </a:r>
            <a:r>
              <a:rPr dirty="0" err="1"/>
              <a:t>lõi</a:t>
            </a:r>
            <a:r>
              <a:rPr dirty="0"/>
              <a:t>, web Smash Zone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2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gợi</a:t>
            </a:r>
            <a:r>
              <a:rPr dirty="0"/>
              <a:t> ý </a:t>
            </a:r>
            <a:r>
              <a:rPr dirty="0" err="1"/>
              <a:t>bổ</a:t>
            </a:r>
            <a:r>
              <a:rPr dirty="0"/>
              <a:t> </a:t>
            </a:r>
            <a:r>
              <a:rPr dirty="0" err="1"/>
              <a:t>trợ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SQL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cá</a:t>
            </a:r>
            <a:r>
              <a:rPr dirty="0"/>
              <a:t>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: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rPr dirty="0"/>
              <a:t>1. </a:t>
            </a:r>
            <a:r>
              <a:rPr dirty="0" err="1"/>
              <a:t>Lọc</a:t>
            </a:r>
            <a:r>
              <a:rPr dirty="0"/>
              <a:t> </a:t>
            </a:r>
            <a:r>
              <a:rPr dirty="0" err="1"/>
              <a:t>Cộng</a:t>
            </a:r>
            <a:r>
              <a:rPr dirty="0"/>
              <a:t> </a:t>
            </a:r>
            <a:r>
              <a:rPr dirty="0" err="1"/>
              <a:t>Tác</a:t>
            </a:r>
            <a:r>
              <a:rPr dirty="0"/>
              <a:t> (Collaborative Filtering) </a:t>
            </a:r>
            <a:r>
              <a:rPr dirty="0" err="1"/>
              <a:t>Mua</a:t>
            </a:r>
            <a:r>
              <a:rPr dirty="0"/>
              <a:t> </a:t>
            </a:r>
            <a:r>
              <a:rPr dirty="0" err="1"/>
              <a:t>Kèm</a:t>
            </a:r>
            <a:r>
              <a:rPr dirty="0"/>
              <a:t>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Gợi</a:t>
            </a:r>
            <a:r>
              <a:rPr dirty="0"/>
              <a:t> ý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mua</a:t>
            </a:r>
            <a:r>
              <a:rPr dirty="0"/>
              <a:t> </a:t>
            </a:r>
            <a:r>
              <a:rPr dirty="0" err="1"/>
              <a:t>kèm</a:t>
            </a:r>
            <a:r>
              <a:rPr dirty="0"/>
              <a:t> </a:t>
            </a:r>
            <a:r>
              <a:rPr dirty="0" err="1"/>
              <a:t>dựa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vi </a:t>
            </a:r>
            <a:r>
              <a:rPr dirty="0" err="1"/>
              <a:t>mua</a:t>
            </a:r>
            <a:r>
              <a:rPr dirty="0"/>
              <a:t> </a:t>
            </a:r>
            <a:r>
              <a:rPr dirty="0" err="1"/>
              <a:t>chéo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tương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(Real-time) qua </a:t>
            </a:r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 SQL </a:t>
            </a:r>
            <a:r>
              <a:rPr dirty="0" err="1"/>
              <a:t>lồng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 (Sub-queries &amp; JOINs) ở </a:t>
            </a:r>
            <a:r>
              <a:rPr dirty="0" err="1"/>
              <a:t>tầng</a:t>
            </a:r>
            <a:r>
              <a:rPr dirty="0"/>
              <a:t> DAO.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rPr dirty="0"/>
              <a:t>2. Trending Products (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xu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):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getTrendingProducts</a:t>
            </a:r>
            <a:r>
              <a:rPr dirty="0"/>
              <a:t>(10): </a:t>
            </a:r>
            <a:r>
              <a:rPr dirty="0" err="1"/>
              <a:t>Lấy</a:t>
            </a:r>
            <a:r>
              <a:rPr dirty="0"/>
              <a:t> 10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bán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CSDL </a:t>
            </a:r>
            <a:r>
              <a:rPr dirty="0" err="1"/>
              <a:t>dựa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 smtClean="0"/>
              <a:t>.</a:t>
            </a:r>
          </a:p>
        </p:txBody>
      </p:sp>
      <p:pic>
        <p:nvPicPr>
          <p:cNvPr id="7" name="Picture 6" descr="collaborative_filtering_diagram_1781517369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So Sánh Phương Pháp Gợi Ý &amp; Các Độ Đo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80160"/>
          <a:ext cx="1079906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Tiêu chí so sánh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Content-Based (AI lõi)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Collaborative (Bổ trợ SQL)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Trending (Bổ trợ SQL)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Bản chất gợi 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Dựa trên đặc trưng sản phẩm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Dựa trên hành vi mua sắm chéo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Dựa trên số lượng bán 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Độ đo tối ưu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Cosine Similarity, Jaccard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Precision@K, Recall@K,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Lượt mua (COUNT), Doanh 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Vấn đề Cold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Không gặp (chỉ cần metadata)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Gặp nghiêm trọng (cần lịch sử)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Không gặp (dùng làm fallback)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Độ cá nhân hóa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Cao (đúng gu kỹ thuật)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Rất cao (khai phá nhu cầu ẩn)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Thấp (áp dụng chung)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Độ phức tạp tính toán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Trung bình (tính offline)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Cao (SQL lồng real-time)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Thấp (truy vấn SQL đơn giản)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Khả năng mở rộng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Dễ dàng thêm sản phẩm mới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Khó khăn khi số lượng user tăng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Cực kỳ dễ dàng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Kiến Trúc Hệ Thống MVC &amp; Thiết Kế Cơ Sở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1. Kiến trúc phân mềm Java Web tiêu chuẩn MVC: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View: Trang JSP động, sử dụng thư viện thẻ JSTL 1.2, Bootstrap 5.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Controller: Các HttpServlet (Java Servlet) tiếp nhận và chuyển tiếp dữ liệu.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Model: JavaBeans thực thể &amp; Tầng DAO thực thi JDBC kết nối MySQL 8.0.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AI Engine: Python chạy độc lập truy vấn trực tiếp CSDL MySQL.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2. Thiết kế Cơ sở dữ liệu gồm 7 bảng chuẩn hóa: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users, categories, products (chứa JSON thông số động và metadata AI), orders, order_details, user_interactions, product_recommendations.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284" y="1557459"/>
            <a:ext cx="5009782" cy="33773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Quy Trình Đặt Hàng &amp; Giao Dịch An Toàn (Transaction)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cáo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sở</a:t>
            </a:r>
            <a:r>
              <a:rPr dirty="0"/>
              <a:t> | SV: Do </a:t>
            </a:r>
            <a:r>
              <a:rPr dirty="0" err="1"/>
              <a:t>Hà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 Minh - B23DCCN543 |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Bài toán: Khi Checkout đơn hàng, hệ thống phải thực hiện 3 lệnh ghi xuống DB: thêm orders, thêm order_details và trừ products.quantity.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Rủi ro: Sập server ở bước trừ kho dẫn đến đơn hàng ảo, hoặc bị âm kho (Overselling) khi nhiều người mua cùng lúc.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Giải pháp ACID Transaction trong OrderDAO.java: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conn.setAutoCommit(false); // Bắt đầu giao dịch.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Chèn orders -&gt; Lấy generated keys -&gt; Chèn order_details bằng Batch.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Cập nhật số lượng kho bằng UPDATE Batch sử dụng hàm toán học bảo vệ: quantity = GREATEST(0, quantity - ?).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Thành công: conn.commit();  |  Lỗi SQLException: conn.rollback(); khôi phục sạch sẽ.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053" y="1403452"/>
            <a:ext cx="5173984" cy="34996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Tính Năng Web Smash Zone - Khách Hàng &amp; 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3490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rPr dirty="0"/>
              <a:t>1.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 (</a:t>
            </a:r>
            <a:r>
              <a:rPr dirty="0" err="1"/>
              <a:t>băm</a:t>
            </a:r>
            <a:r>
              <a:rPr dirty="0"/>
              <a:t> MD5), </a:t>
            </a:r>
            <a:r>
              <a:rPr dirty="0" err="1"/>
              <a:t>xem</a:t>
            </a:r>
            <a:r>
              <a:rPr dirty="0"/>
              <a:t> chi </a:t>
            </a:r>
            <a:r>
              <a:rPr dirty="0" err="1"/>
              <a:t>tiết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kỹ</a:t>
            </a:r>
            <a:r>
              <a:rPr dirty="0"/>
              <a:t>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(</a:t>
            </a:r>
            <a:r>
              <a:rPr dirty="0" err="1"/>
              <a:t>Vợt</a:t>
            </a:r>
            <a:r>
              <a:rPr dirty="0"/>
              <a:t>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sức</a:t>
            </a:r>
            <a:r>
              <a:rPr dirty="0"/>
              <a:t> </a:t>
            </a:r>
            <a:r>
              <a:rPr dirty="0" err="1"/>
              <a:t>căng</a:t>
            </a:r>
            <a:r>
              <a:rPr dirty="0"/>
              <a:t>, </a:t>
            </a:r>
            <a:r>
              <a:rPr dirty="0" err="1"/>
              <a:t>Giày</a:t>
            </a:r>
            <a:r>
              <a:rPr dirty="0"/>
              <a:t>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đệm</a:t>
            </a:r>
            <a:r>
              <a:rPr dirty="0"/>
              <a:t>)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cú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 JSON </a:t>
            </a:r>
            <a:r>
              <a:rPr dirty="0" err="1"/>
              <a:t>specific_attributes</a:t>
            </a:r>
            <a:r>
              <a:rPr dirty="0"/>
              <a:t>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Tiền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: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đẹp</a:t>
            </a:r>
            <a:r>
              <a:rPr dirty="0"/>
              <a:t> </a:t>
            </a:r>
            <a:r>
              <a:rPr dirty="0" err="1"/>
              <a:t>tiếng</a:t>
            </a:r>
            <a:r>
              <a:rPr dirty="0"/>
              <a:t> </a:t>
            </a:r>
            <a:r>
              <a:rPr dirty="0" err="1"/>
              <a:t>Việt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dấu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dấu</a:t>
            </a:r>
            <a:r>
              <a:rPr dirty="0"/>
              <a:t> ('Long </a:t>
            </a:r>
            <a:r>
              <a:rPr dirty="0" err="1"/>
              <a:t>vit</a:t>
            </a:r>
            <a:r>
              <a:rPr dirty="0"/>
              <a:t>' -&gt; '</a:t>
            </a:r>
            <a:r>
              <a:rPr dirty="0" err="1"/>
              <a:t>Lông</a:t>
            </a:r>
            <a:r>
              <a:rPr dirty="0"/>
              <a:t> </a:t>
            </a:r>
            <a:r>
              <a:rPr dirty="0" err="1"/>
              <a:t>vịt</a:t>
            </a:r>
            <a:r>
              <a:rPr dirty="0"/>
              <a:t>').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Giỏ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(Session-based)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lịch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mua</a:t>
            </a:r>
            <a:r>
              <a:rPr dirty="0"/>
              <a:t> </a:t>
            </a:r>
            <a:r>
              <a:rPr dirty="0" err="1"/>
              <a:t>sắm</a:t>
            </a:r>
            <a:r>
              <a:rPr dirty="0"/>
              <a:t>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rPr dirty="0"/>
              <a:t>2.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trị</a:t>
            </a:r>
            <a:r>
              <a:rPr dirty="0"/>
              <a:t> (Admin):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Biểu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Doanh</a:t>
            </a:r>
            <a:r>
              <a:rPr dirty="0"/>
              <a:t> </a:t>
            </a:r>
            <a:r>
              <a:rPr dirty="0" err="1"/>
              <a:t>thu</a:t>
            </a:r>
            <a:r>
              <a:rPr dirty="0"/>
              <a:t> &amp; </a:t>
            </a:r>
            <a:r>
              <a:rPr dirty="0" err="1"/>
              <a:t>Lợi</a:t>
            </a:r>
            <a:r>
              <a:rPr dirty="0"/>
              <a:t> </a:t>
            </a:r>
            <a:r>
              <a:rPr dirty="0" err="1"/>
              <a:t>nhuận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tháng</a:t>
            </a:r>
            <a:r>
              <a:rPr dirty="0"/>
              <a:t> </a:t>
            </a:r>
            <a:r>
              <a:rPr dirty="0" err="1"/>
              <a:t>vẽ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Chart.js.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lợi</a:t>
            </a:r>
            <a:r>
              <a:rPr dirty="0"/>
              <a:t> </a:t>
            </a:r>
            <a:r>
              <a:rPr dirty="0" err="1"/>
              <a:t>nhuận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 </a:t>
            </a:r>
            <a:r>
              <a:rPr dirty="0" err="1"/>
              <a:t>dựa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chênh</a:t>
            </a:r>
            <a:r>
              <a:rPr dirty="0"/>
              <a:t> </a:t>
            </a:r>
            <a:r>
              <a:rPr dirty="0" err="1"/>
              <a:t>lệch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bán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 (</a:t>
            </a:r>
            <a:r>
              <a:rPr dirty="0" err="1"/>
              <a:t>import_price</a:t>
            </a:r>
            <a:r>
              <a:rPr dirty="0"/>
              <a:t>).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rPr dirty="0"/>
              <a:t>   - </a:t>
            </a:r>
            <a:r>
              <a:rPr dirty="0" err="1"/>
              <a:t>Khắc</a:t>
            </a:r>
            <a:r>
              <a:rPr dirty="0"/>
              <a:t>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lỗi</a:t>
            </a:r>
            <a:r>
              <a:rPr dirty="0"/>
              <a:t> strict mode ONLY_FULL_GROUP_BY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gom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sắp</a:t>
            </a:r>
            <a:r>
              <a:rPr dirty="0"/>
              <a:t> </a:t>
            </a:r>
            <a:r>
              <a:rPr dirty="0" err="1"/>
              <a:t>xếp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MIN(</a:t>
            </a:r>
            <a:r>
              <a:rPr dirty="0" err="1"/>
              <a:t>o.created_at</a:t>
            </a:r>
            <a:r>
              <a:rPr dirty="0"/>
              <a:t>).</a:t>
            </a:r>
          </a:p>
          <a:p>
            <a:pPr>
              <a:spcBef>
                <a:spcPts val="800"/>
              </a:spcBef>
              <a:defRPr sz="1400" b="1" i="0">
                <a:solidFill>
                  <a:srgbClr val="F66315"/>
                </a:solidFill>
                <a:latin typeface="Segoe UI"/>
              </a:defRPr>
            </a:pPr>
            <a:endParaRPr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1630940"/>
            <a:ext cx="5593342" cy="2118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400" b="1" i="0">
                <a:solidFill>
                  <a:srgbClr val="F66315"/>
                </a:solidFill>
                <a:latin typeface="Segoe UI"/>
              </a:defRPr>
            </a:pPr>
            <a:r>
              <a:t>CÀI ĐẶT, VẬN HÀNH &amp; KẾT LUẬN ĐỀ TÀI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FFFFF"/>
                </a:solidFill>
                <a:latin typeface="Segoe UI"/>
              </a:defRPr>
            </a:pPr>
            <a:r>
              <a:t>1. Hướng dẫn khởi chạy nhanh (3 bước):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FFFFFF"/>
                </a:solidFill>
                <a:latin typeface="Segoe UI"/>
              </a:defRPr>
            </a:pPr>
            <a:r>
              <a:t>   - MySQL: Tạo DB badminton_shop, import file setup_import_price.sql và setup_test_data.sql.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FFFFFF"/>
                </a:solidFill>
                <a:latin typeface="Segoe UI"/>
              </a:defRPr>
            </a:pPr>
            <a:r>
              <a:t>   - Java Web: Import dự án vào NetBeans, cấu hình kết nối DBContext.java và Run bằng Apache Tomcat.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FFFFFF"/>
                </a:solidFill>
                <a:latin typeface="Segoe UI"/>
              </a:defRPr>
            </a:pPr>
            <a:r>
              <a:t>   - AI Engine: Cài pandas, scikit-learn, mysql-connector và chạy: python recomment/thuat_toan_content.py.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FFFFF"/>
                </a:solidFill>
                <a:latin typeface="Segoe UI"/>
              </a:defRPr>
            </a:pPr>
            <a:r>
              <a:t>2. Kết quả đạt được &amp; Định hướng tương lai: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FFFFFF"/>
                </a:solidFill>
                <a:latin typeface="Segoe UI"/>
              </a:defRPr>
            </a:pPr>
            <a:r>
              <a:t>   - Web vận hành mượt mà, responsive tốt; Hệ thống gợi ý AI (CB) và các khối bổ trợ hoạt động ổn định.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FFFFFF"/>
                </a:solidFill>
                <a:latin typeface="Segoe UI"/>
              </a:defRPr>
            </a:pPr>
            <a:r>
              <a:t>   - Khắc phục hoàn toàn các lỗi strict mode MySQL, âm kho (dùng Transaction), Unicode tiếng Việt.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FFFFFF"/>
                </a:solidFill>
                <a:latin typeface="Segoe UI"/>
              </a:defRPr>
            </a:pPr>
            <a:r>
              <a:t>   - Định hướng: Tự động hóa Python tính toán real-time và tích hợp thanh toán online (VNPAY/MoMo).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0152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66315"/>
                </a:solidFill>
                <a:latin typeface="Segoe UI"/>
              </a:defRPr>
            </a:pPr>
            <a:r>
              <a:rPr lang="vi-VN" dirty="0" smtClean="0"/>
              <a:t>EM </a:t>
            </a:r>
            <a:r>
              <a:rPr dirty="0" smtClean="0"/>
              <a:t>XIN </a:t>
            </a:r>
            <a:r>
              <a:rPr dirty="0"/>
              <a:t>CHÂN THÀNH CẢM ƠN </a:t>
            </a:r>
          </a:p>
          <a:p>
            <a:pPr algn="ctr">
              <a:spcBef>
                <a:spcPts val="20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xin</a:t>
            </a:r>
            <a:r>
              <a:rPr dirty="0"/>
              <a:t> </a:t>
            </a:r>
            <a:r>
              <a:rPr dirty="0" err="1"/>
              <a:t>phép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thu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ý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góp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lời</a:t>
            </a:r>
            <a:r>
              <a:rPr dirty="0"/>
              <a:t> </a:t>
            </a:r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hỏi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 </a:t>
            </a:r>
            <a:r>
              <a:rPr dirty="0" err="1"/>
              <a:t>đáp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 smtClean="0"/>
              <a:t>Thầy</a:t>
            </a:r>
            <a:r>
              <a:rPr dirty="0" smtClean="0"/>
              <a:t>.</a:t>
            </a:r>
            <a:endParaRPr dirty="0"/>
          </a:p>
          <a:p>
            <a:pPr algn="ctr">
              <a:spcBef>
                <a:spcPts val="4000"/>
              </a:spcBef>
              <a:defRPr sz="1450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: Do </a:t>
            </a:r>
            <a:r>
              <a:rPr dirty="0" err="1"/>
              <a:t>Hà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 Minh  |  </a:t>
            </a:r>
            <a:r>
              <a:rPr dirty="0" err="1"/>
              <a:t>Mã</a:t>
            </a:r>
            <a:r>
              <a:rPr dirty="0"/>
              <a:t> SV: B23DCCN543</a:t>
            </a:r>
            <a:br>
              <a:rPr dirty="0"/>
            </a:br>
            <a:r>
              <a:rPr dirty="0" err="1"/>
              <a:t>Giảng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 smtClean="0"/>
              <a:t>dẫn</a:t>
            </a:r>
            <a:r>
              <a:rPr dirty="0" smtClean="0"/>
              <a:t>:</a:t>
            </a:r>
            <a:r>
              <a:rPr lang="vi-VN" dirty="0" smtClean="0"/>
              <a:t>Nguyễn Hoàng Anh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2593</Words>
  <Application>Microsoft Office PowerPoint</Application>
  <PresentationFormat>Widescreen</PresentationFormat>
  <Paragraphs>167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8</cp:revision>
  <dcterms:created xsi:type="dcterms:W3CDTF">2013-01-27T09:14:16Z</dcterms:created>
  <dcterms:modified xsi:type="dcterms:W3CDTF">2026-06-15T11:35:18Z</dcterms:modified>
  <cp:category/>
</cp:coreProperties>
</file>