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66315"/>
                </a:solidFill>
                <a:latin typeface="Segoe UI"/>
              </a:defRPr>
            </a:pPr>
            <a:r>
              <a:t>BÁO CÁO MÔN HỌC THỰC TẬP CƠ SỞ</a:t>
            </a:r>
          </a:p>
          <a:p>
            <a:pPr>
              <a:spcBef>
                <a:spcPts val="12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XÂY DỰNG WEBSITE CỬA HÀNG DỤNG CỤ CẦU LÔNG "SMASH ZONE"</a:t>
            </a:r>
            <a:br/>
            <a:r>
              <a:t>TÍCH HỢP HỆ THỐNG GỢI Ý SẢN PHẨM AI THÔNG MINH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Sinh viên thực hiện: Do Hà Thanh Minh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Mã sinh viên: B23DCCN543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Nhóm môn học: 06  |  Giảng viên hướng dẫn: ThS. Bùi Văn Kiên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Khoa Công nghệ Thông tin 1 - Học viện Công nghệ Bưu chính Viễn thông (PTIT)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  <a:latin typeface="Segoe UI"/>
              </a:defRPr>
            </a:pPr>
            <a:r>
              <a:t>Năm thực hiện: Hà Nội,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Đặt Vấn Đề &amp; Lý Do Chọn Đề Tài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0" i="0">
                <a:solidFill>
                  <a:srgbClr val="212529"/>
                </a:solidFill>
                <a:latin typeface="Segoe UI"/>
              </a:defRPr>
            </a:pPr>
            <a:r>
              <a:t>Sự bùng nổ của bộ môn cầu lông kéo theo nhu cầu mua sắm thiết bị chuyên nghiệp tăng vọt.</a:t>
            </a:r>
          </a:p>
          <a:p>
            <a:pPr>
              <a:spcBef>
                <a:spcPts val="1000"/>
              </a:spcBef>
              <a:defRPr sz="1500" b="0" i="0">
                <a:solidFill>
                  <a:srgbClr val="212529"/>
                </a:solidFill>
                <a:latin typeface="Segoe UI"/>
              </a:defRPr>
            </a:pPr>
            <a:r>
              <a:t>Sản phẩm cầu lông có thông số kỹ thuật động vô cùng phức tạp và mang tính chuyên môn cao:</a:t>
            </a:r>
          </a:p>
          <a:p>
            <a:pPr>
              <a:spcBef>
                <a:spcPts val="400"/>
              </a:spcBef>
              <a:defRPr sz="1450" b="0" i="1">
                <a:solidFill>
                  <a:srgbClr val="212529"/>
                </a:solidFill>
                <a:latin typeface="Segoe UI"/>
              </a:defRPr>
            </a:pPr>
            <a:r>
              <a:t>  - Vợt cầu lông: Trọng lượng (3U/4U/5U), độ cứng thân, mức căng tối đa, lối chơi (Công/Thủ).</a:t>
            </a:r>
          </a:p>
          <a:p>
            <a:pPr>
              <a:spcBef>
                <a:spcPts val="400"/>
              </a:spcBef>
              <a:defRPr sz="1450" b="0" i="1">
                <a:solidFill>
                  <a:srgbClr val="212529"/>
                </a:solidFill>
                <a:latin typeface="Segoe UI"/>
              </a:defRPr>
            </a:pPr>
            <a:r>
              <a:t>  - Giày cầu lông: Công nghệ đế, đệm giảm chấn hấp thụ lực va chạm khi bật nhảy đập cầu.</a:t>
            </a:r>
          </a:p>
          <a:p>
            <a:pPr>
              <a:spcBef>
                <a:spcPts val="400"/>
              </a:spcBef>
              <a:defRPr sz="1450" b="0" i="1">
                <a:solidFill>
                  <a:srgbClr val="212529"/>
                </a:solidFill>
                <a:latin typeface="Segoe UI"/>
              </a:defRPr>
            </a:pPr>
            <a:r>
              <a:t>  - Ống cầu lông: Tốc độ bay (74/75/76), chất liệu cánh cầu (lông ngỗng, lông vịt).</a:t>
            </a:r>
          </a:p>
          <a:p>
            <a:pPr>
              <a:spcBef>
                <a:spcPts val="1000"/>
              </a:spcBef>
              <a:defRPr sz="1500" b="0" i="0">
                <a:solidFill>
                  <a:srgbClr val="212529"/>
                </a:solidFill>
                <a:latin typeface="Segoe UI"/>
              </a:defRPr>
            </a:pPr>
            <a:r>
              <a:t>Nỗi đau (Pain Point): Người chơi mới (Newbies) rất khó để tự chọn được sản phẩm phù hợp lối đánh cá nhân.</a:t>
            </a:r>
          </a:p>
          <a:p>
            <a:pPr>
              <a:spcBef>
                <a:spcPts val="1000"/>
              </a:spcBef>
              <a:defRPr sz="1500" b="0" i="0">
                <a:solidFill>
                  <a:srgbClr val="212529"/>
                </a:solidFill>
                <a:latin typeface="Segoe UI"/>
              </a:defRPr>
            </a:pPr>
            <a:r>
              <a:t>Hạn chế của web truyền thống: Chỉ hiển thị danh sách tĩnh, thiếu cá nhân hóa và tư vấn thông minh.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Mục tiêu đề tài: Xây dựng Smash Zone tích hợp Hệ thống gợi ý với Động cơ AI lõi làm trợ lý chọn vợt/giày.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Hệ Thống Gợi Ý: AI Lõi Kết Hợp Bổ Trợ Từ CSDL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50" b="0" i="0">
                <a:solidFill>
                  <a:srgbClr val="212529"/>
                </a:solidFill>
                <a:latin typeface="Segoe UI"/>
              </a:defRPr>
            </a:pPr>
            <a:r>
              <a:t>Động cơ gợi ý của Smash Zone được chia làm 2 phân hệ rõ rệt để tối ưu hóa hiệu năng và độ chính xác:</a:t>
            </a:r>
          </a:p>
          <a:p>
            <a:pPr>
              <a:spcBef>
                <a:spcPts val="12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Phân Hệ 1: Động Cơ AI Lõi (Core AI Engine)</a:t>
            </a:r>
          </a:p>
          <a:p>
            <a:pPr>
              <a:spcBef>
                <a:spcPts val="400"/>
              </a:spcBef>
              <a:defRPr sz="1450" b="1" i="0">
                <a:solidFill>
                  <a:srgbClr val="212529"/>
                </a:solidFill>
                <a:latin typeface="Segoe UI"/>
              </a:defRPr>
            </a:pPr>
            <a:r>
              <a:t>   - Content-Based Filtering (Lọc dựa trên nội dung kỹ thuật).</a:t>
            </a:r>
          </a:p>
          <a:p>
            <a:pPr>
              <a:spcBef>
                <a:spcPts val="2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Sử dụng học máy NLP (TF-IDF &amp; Cosine Similarity) chạy trên Python để tìm kiếm sản phẩm tương đương về thông số và lối đánh.</a:t>
            </a:r>
          </a:p>
          <a:p>
            <a:pPr>
              <a:spcBef>
                <a:spcPts val="14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Phân Hệ 2: Các Khối Gợi Ý Bổ Trợ Trên CSDL (Non-AI)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Collaborative Filtering (Lọc cộng tác mua chéo): Gợi ý mua kèm dựa trên hành vi mua sắm của cộng đồng qua SQL JOIN.</a:t>
            </a:r>
          </a:p>
          <a:p>
            <a:pPr>
              <a:spcBef>
                <a:spcPts val="2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Trending Products (Sản phẩm xu hướng): Gợi ý bán chạy nhất qua lệnh SQL COUNT, giải quyết bài toán Cold-Start cho khách mới.</a:t>
            </a:r>
          </a:p>
        </p:txBody>
      </p:sp>
      <p:pic>
        <p:nvPicPr>
          <p:cNvPr id="7" name="Picture 6" descr="hybrid_recommender_system_1781517339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Khối AI Lõi: Content-Based Filtering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 i="0">
                <a:solidFill>
                  <a:srgbClr val="212529"/>
                </a:solidFill>
                <a:latin typeface="Segoe UI"/>
              </a:defRPr>
            </a:pPr>
            <a:r>
              <a:t>Tại sao chọn Content-Based làm Động cơ AI lõi?</a:t>
            </a:r>
          </a:p>
          <a:p>
            <a:pPr>
              <a:spcBef>
                <a:spcPts val="8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Bản chất sản phẩm cầu lông phụ thuộc sâu sắc vào thông số kỹ thuật động.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Content-Based Filtering phân tích các đặc trưng (features) của sản phẩm để tìm các sản phẩm tương đồng nhất.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Giúp đưa ra các khuyến nghị có tính chuyên môn cao (như tìm vợt cùng lối chơi thiên công hoặc vợt dẻo dễ thuần cho người mới).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Không phụ thuộc vào lịch sử giao dịch ban đầu, phù hợp với hệ thống cửa hàng chuyên biệt.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3931920"/>
          </a:xfrm>
          <a:prstGeom prst="roundRect">
            <a:avLst/>
          </a:prstGeom>
          <a:solidFill>
            <a:srgbClr val="E9ECEF"/>
          </a:solidFill>
          <a:ln w="19050">
            <a:solidFill>
              <a:srgbClr val="F66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192F"/>
                </a:solidFill>
                <a:latin typeface="Segoe UI"/>
              </a:defRPr>
            </a:pPr>
            <a:r>
              <a:t>Ví Dụ Chuỗi Mô Tả Metadata For AI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  <a:latin typeface="Segoe UI"/>
              </a:defRPr>
            </a:pPr>
            <a:r>
              <a:t>"Vợt cầu lông Yonex Astrox Lite 45i Scarlet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  <a:latin typeface="Segoe UI"/>
              </a:defRPr>
            </a:pPr>
            <a:r>
              <a:t> Danh mục: Vợt cầu lông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  <a:latin typeface="Segoe UI"/>
              </a:defRPr>
            </a:pPr>
            <a:r>
              <a:t> Thông số: Trọng lượng 4U Độ cứng Trung bình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  <a:latin typeface="Segoe UI"/>
              </a:defRPr>
            </a:pPr>
            <a:r>
              <a:t> Mức căng 20-28 lbs Lối chơi Thiên công"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  <a:latin typeface="Segoe UI"/>
              </a:defRPr>
            </a:pPr>
            <a:r>
              <a:t>==&gt; Chuyển đổi thành vector số dựa trên các từ khóa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  <a:latin typeface="Segoe UI"/>
              </a:defRPr>
            </a:pPr>
            <a:r>
              <a:t>    chuyên ngành cốt lõi đã được tính toán trọng số TF-IDF.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Cơ Chế Toán Học AI: Vector Hóa TF-IDF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50" b="0" i="0">
                <a:solidFill>
                  <a:srgbClr val="212529"/>
                </a:solidFill>
                <a:latin typeface="Segoe UI"/>
              </a:defRPr>
            </a:pPr>
            <a:r>
              <a:t>Thuật toán NLP chuyển đổi mô tả chữ dạng metadata_for_ai thành vector số học biểu diễn đặc trưng sản phẩm:</a:t>
            </a:r>
          </a:p>
          <a:p>
            <a:pPr>
              <a:spcBef>
                <a:spcPts val="12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1. TF (Term Frequency - Tần suất xuất hiện của từ):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Đo tần suất từ khóa kỹ thuật xuất hiện trong sản phẩm đó. Từ xuất hiện càng nhiều, trọng số càng lớn.</a:t>
            </a:r>
          </a:p>
          <a:p>
            <a:pPr>
              <a:spcBef>
                <a:spcPts val="200"/>
              </a:spcBef>
              <a:defRPr sz="1400" b="0" i="1">
                <a:solidFill>
                  <a:srgbClr val="0A192F"/>
                </a:solidFill>
                <a:latin typeface="Segoe UI"/>
              </a:defRPr>
            </a:pPr>
            <a:r>
              <a:t>     TF(t, d) = (Số lần từ t xuất hiện trong tài liệu d) / (Tổng số từ trong tài liệu d)</a:t>
            </a:r>
          </a:p>
          <a:p>
            <a:pPr>
              <a:spcBef>
                <a:spcPts val="14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2. IDF (Inverse Document Frequency - Tần suất nghịch đảo):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Giảm trọng số của các từ chung chung xuất hiện ở mọi nơi ('sản phẩm', 'đẹp', 'chính hãng').</a:t>
            </a:r>
          </a:p>
          <a:p>
            <a:pPr>
              <a:spcBef>
                <a:spcPts val="2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 - Tăng vọt trọng số các từ chuyên sâu đặc thù xuất hiện ít ('nặng đầu', 'thiên công', 'tru cushion').</a:t>
            </a:r>
          </a:p>
          <a:p>
            <a:pPr>
              <a:spcBef>
                <a:spcPts val="200"/>
              </a:spcBef>
              <a:defRPr sz="1400" b="0" i="1">
                <a:solidFill>
                  <a:srgbClr val="0A192F"/>
                </a:solidFill>
                <a:latin typeface="Segoe UI"/>
              </a:defRPr>
            </a:pPr>
            <a:r>
              <a:t>     IDF(t, D) = log( Tổng số tài liệu D / (1 + Số tài liệu chứa từ t) )</a:t>
            </a:r>
          </a:p>
          <a:p>
            <a:pPr>
              <a:spcBef>
                <a:spcPts val="1200"/>
              </a:spcBef>
              <a:defRPr sz="1450" b="1" i="0">
                <a:solidFill>
                  <a:srgbClr val="212529"/>
                </a:solidFill>
                <a:latin typeface="Segoe UI"/>
              </a:defRPr>
            </a:pPr>
            <a:r>
              <a:t>==&gt; Trọng số TF-IDF = TF * IDF đại diện chính xác đặc tính kỹ thuật của sản phẩm.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Cơ Chế Toán Học AI: Độ Tương Đồng Cosine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50" b="0" i="0">
                <a:solidFill>
                  <a:srgbClr val="212529"/>
                </a:solidFill>
                <a:latin typeface="Segoe UI"/>
              </a:defRPr>
            </a:pPr>
            <a:r>
              <a:t>Đo góc lệch giữa hai vector sản phẩm A và B trong không gian đặc trưng đa chiều: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Công thức toán học tính Cosine Similarity:</a:t>
            </a:r>
          </a:p>
          <a:p>
            <a:pPr>
              <a:spcBef>
                <a:spcPts val="400"/>
              </a:spcBef>
              <a:defRPr sz="1450" b="1" i="0">
                <a:solidFill>
                  <a:srgbClr val="0A192F"/>
                </a:solidFill>
                <a:latin typeface="Segoe UI"/>
              </a:defRPr>
            </a:pPr>
            <a:r>
              <a:t>  Cosine Similarity(A, B) = (A . B) / (||A|| * ||B||)</a:t>
            </a:r>
          </a:p>
          <a:p>
            <a:pPr>
              <a:spcBef>
                <a:spcPts val="12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Phân tích khoảng điểm số tương đồng: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Điểm số dao động trong khoảng [0, 1].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Càng gần 1: Hai sản phẩm cực kỳ giống nhau về thông số kỹ thuật động và lối đánh.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Càng gần 0: Hai sản phẩm hoàn toàn khác biệt nhau về thuộc tính kỹ thuật.</a:t>
            </a:r>
          </a:p>
        </p:txBody>
      </p:sp>
      <p:pic>
        <p:nvPicPr>
          <p:cNvPr id="7" name="Picture 6" descr="cosine_similarity_diagram_1781517352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Quy Trình Triển Khai AI Engine Trên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50" b="1" i="0">
                <a:solidFill>
                  <a:srgbClr val="212529"/>
                </a:solidFill>
                <a:latin typeface="Segoe UI"/>
              </a:defRPr>
            </a:pPr>
            <a:r>
              <a:t>Quy trình tính toán offline/định kỳ của Python script (thuat_toan_content.py):</a:t>
            </a:r>
          </a:p>
          <a:p>
            <a:pPr>
              <a:spcBef>
                <a:spcPts val="8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Step 1: Kết nối DB MySQL qua mysql.connector, tải cột metadata_for_ai của toàn bộ sản phẩm.</a:t>
            </a:r>
          </a:p>
          <a:p>
            <a:pPr>
              <a:spcBef>
                <a:spcPts val="8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Step 2: Vector hóa chuỗi metadata bằng TfidfVectorizer (thư viện Scikit-learn).</a:t>
            </a:r>
          </a:p>
          <a:p>
            <a:pPr>
              <a:spcBef>
                <a:spcPts val="8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Step 3: Tính toán ma trận độ tương đồng chéo bằng cosine_similarity.</a:t>
            </a:r>
          </a:p>
          <a:p>
            <a:pPr>
              <a:spcBef>
                <a:spcPts val="8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Step 4: Lọc lấy Top 4 sản phẩm tương đồng cao nhất cho mỗi sản phẩm gốc.</a:t>
            </a:r>
          </a:p>
          <a:p>
            <a:pPr>
              <a:spcBef>
                <a:spcPts val="8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Step 5: Thực hiện clearRecommendations() và nạp đè kết quả trực tiếp vào bảng product_recommendations.</a:t>
            </a:r>
          </a:p>
          <a:p>
            <a:pPr>
              <a:spcBef>
                <a:spcPts val="1200"/>
              </a:spcBef>
              <a:defRPr sz="1450" b="1" i="0">
                <a:solidFill>
                  <a:srgbClr val="F66315"/>
                </a:solidFill>
                <a:latin typeface="Segoe UI"/>
              </a:defRPr>
            </a:pPr>
            <a:r>
              <a:t>[GHI CHÚ CHỤP ẢNH CHÈN VÀO BÊN PHẢI]:</a:t>
            </a:r>
          </a:p>
          <a:p>
            <a:pPr>
              <a:spcBef>
                <a:spcPts val="400"/>
              </a:spcBef>
              <a:defRPr sz="1350" b="0" i="1">
                <a:solidFill>
                  <a:srgbClr val="212529"/>
                </a:solidFill>
                <a:latin typeface="Segoe UI"/>
              </a:defRPr>
            </a:pPr>
            <a:r>
              <a:t>  - Chụp màn hình mã nguồn Python chạy thuật toán TF-IDF Cosine.</a:t>
            </a:r>
          </a:p>
          <a:p>
            <a:pPr>
              <a:spcBef>
                <a:spcPts val="400"/>
              </a:spcBef>
              <a:defRPr sz="1350" b="0" i="1">
                <a:solidFill>
                  <a:srgbClr val="212529"/>
                </a:solidFill>
                <a:latin typeface="Segoe UI"/>
              </a:defRPr>
            </a:pPr>
            <a:r>
              <a:t>  - Chụp màn hình console chạy script báo nạp thành công 520 gợi ý.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66315"/>
                </a:solidFill>
              </a:defRPr>
            </a:pPr>
            <a:r>
              <a:t>[CHÈN ẢNH CHỤP CODE PYTHON &amp; CONSOLE TẠI ĐÂY]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Các Khối Gợi Ý Bổ Trợ Bằng SQL Trên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Bên cạnh giải pháp AI lõi, hệ thống kết hợp 2 khối gợi ý bổ trợ dựa trên CSDL để hoàn thiện luồng đề xuất cá nhân hóa: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1. Lọc Cộng Tác (Collaborative Filtering) Mua Kèm: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 - Gợi ý sản phẩm thường được mua cùng nhau dựa trên hành vi mua chéo của các người dùng tương đồng.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 - Chạy Real-time bằng SQL query lồng nhau qua JOIN &amp; GROUP BY.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2. Trending Products &amp; Fallback dự phòng: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 - getTrendingProducts(10): Đề xuất Top 10 sản phẩm bán chạy nhất hệ thống dựa trên hóa đơn, giải quyết bài toán Cold-Start.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 - Fallback cùng danh mục: Nếu bảng gợi ý AI trống, Servlet tự động gọi sản phẩm cùng category để bảo toàn giao diện.</a:t>
            </a:r>
          </a:p>
          <a:p>
            <a:pPr>
              <a:spcBef>
                <a:spcPts val="800"/>
              </a:spcBef>
              <a:defRPr sz="1400" b="1" i="0">
                <a:solidFill>
                  <a:srgbClr val="F66315"/>
                </a:solidFill>
                <a:latin typeface="Segoe UI"/>
              </a:defRPr>
            </a:pPr>
            <a:r>
              <a:t>[GHI CHÚ CHỤP ẢNH]: Code SQL lồng nhau trong RecommendationDAO.java.</a:t>
            </a:r>
          </a:p>
        </p:txBody>
      </p:sp>
      <p:pic>
        <p:nvPicPr>
          <p:cNvPr id="7" name="Picture 6" descr="collaborative_filtering_diagram_1781517369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So Sánh Phương Pháp Gợi Ý &amp; Các Độ Đo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80160"/>
          <a:ext cx="10799064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2889504"/>
                <a:gridCol w="2889504"/>
                <a:gridCol w="2889504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Tiêu chí so sánh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Content-Based (AI lõi)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Collaborative (Bổ trợ SQL)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Trending (Bổ trợ SQL)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Bản chất gợi 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Dựa trên đặc trưng sản phẩm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Dựa trên hành vi mua sắm chéo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Dựa trên số lượng bán 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Độ đo tối ưu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Cosine Similarity, Jaccard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Precision@K, Recall@K,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Lượt mua (COUNT), Doanh thu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Vấn đề Cold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Không gặp (chỉ cần metadata)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Gặp nghiêm trọng (cần lịch sử)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Không gặp (dùng làm fallback)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Độ cá nhân hóa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Cao (đúng gu kỹ thuật)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Rất cao (khai phá nhu cầu ẩn)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Thấp (áp dụng chung)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Độ phức tạp tính toán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Trung bình (tính offline)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Cao (SQL lồng real-time)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Thấp (truy vấn SQL đơn giản)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  <a:latin typeface="Segoe UI"/>
                        </a:defRPr>
                      </a:pPr>
                      <a:r>
                        <a:t>Khả năng mở rộng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Dễ dàng thêm sản phẩm mới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Khó khăn khi số lượng user tăng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Cực kỳ dễ dàng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Kiến Trúc Hệ Thống MVC &amp; Thiết Kế Cơ Sở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1. Kiến trúc phân mềm Java Web tiêu chuẩn MVC: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 - View: Trang JSP động, sử dụng thư viện thẻ JSTL 1.2, Bootstrap 5.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 - Controller: Các HttpServlet (Java Servlet) tiếp nhận và chuyển tiếp dữ liệu.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 - Model: JavaBeans thực thể &amp; Tầng DAO thực thi JDBC kết nối MySQL 8.0.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 - AI Engine: Python chạy độc lập truy vấn trực tiếp CSDL MySQL.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2. Thiết kế Cơ sở dữ liệu gồm 7 bảng chuẩn hóa: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 - users, categories, products (chứa JSON thông số động và metadata AI), orders, order_details, user_interactions, product_recommendations.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66315"/>
                </a:solidFill>
              </a:defRPr>
            </a:pPr>
            <a:r>
              <a:t>[CHÈN SƠ ĐỒ LƯỢC ĐỒ QUAN HỆ CSDL (ERD) TẠI ĐÂY]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Quy Trình Đặt Hàng &amp; Giao Dịch An Toàn (Transaction)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Bài toán: Khi Checkout đơn hàng, hệ thống phải thực hiện 3 lệnh ghi xuống DB: thêm orders, thêm order_details và trừ products.quantity.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Rủi ro: Sập server ở bước trừ kho dẫn đến đơn hàng ảo, hoặc bị âm kho (Overselling) khi nhiều người mua cùng lúc.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Giải pháp ACID Transaction trong OrderDAO.java:</a:t>
            </a:r>
          </a:p>
          <a:p>
            <a:pPr>
              <a:spcBef>
                <a:spcPts val="4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- conn.setAutoCommit(false); // Bắt đầu giao dịch.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- Chèn orders -&gt; Lấy generated keys -&gt; Chèn order_details bằng Batch.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- Cập nhật số lượng kho bằng UPDATE Batch sử dụng hàm toán học bảo vệ: quantity = GREATEST(0, quantity - ?).</a:t>
            </a:r>
          </a:p>
          <a:p>
            <a:pPr>
              <a:spcBef>
                <a:spcPts val="200"/>
              </a:spcBef>
              <a:defRPr sz="1350" b="0" i="0">
                <a:solidFill>
                  <a:srgbClr val="212529"/>
                </a:solidFill>
                <a:latin typeface="Segoe UI"/>
              </a:defRPr>
            </a:pPr>
            <a:r>
              <a:t>  - Thành công: conn.commit();  |  Lỗi SQLException: conn.rollback(); khôi phục sạch sẽ.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66315"/>
                </a:solidFill>
              </a:defRPr>
            </a:pPr>
            <a:r>
              <a:t>[CHÈN ẢNH CHỤP CODE TRANSACTION CHECKOUT TẠI ĐÂY]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Tính Năng Web Smash Zone - Giao Diện Khách Hàng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 i="0">
                <a:solidFill>
                  <a:srgbClr val="212529"/>
                </a:solidFill>
                <a:latin typeface="Segoe UI"/>
              </a:defRPr>
            </a:pPr>
            <a:r>
              <a:t>Các tính năng nổi bật phía Khách hàng: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Bảo mật đăng ký &amp; đăng nhập: Băm mật khẩu MD5, quản lý hồ sơ chi tiết (địa chỉ, điện thoại, ngày sinh).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Giao diện Trang chủ hiện đại phối màu Cam (#F66315) và Navy (#031230) năng động, hiển thị 3 hàng gợi ý.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Xem chi tiết sản phẩm hiển thị thông số kỹ thuật động (Dynamic Specs) bằng cách đọc trường JSON specific_attributes trong CSDL tùy theo loại Vợt, Giày hay Cầu.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Tiền xử lý dữ liệu: Tự động làm sạch hiển thị Unicode tiếng Việt có dấu đẹp mắt ('Long vit' -&gt; 'Lông vịt').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Quản lý giỏ hàng (Session-based), Checkout &amp; Xem lịch sử đơn hàng.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66315"/>
                </a:solidFill>
              </a:defRPr>
            </a:pPr>
            <a:r>
              <a:t>[CHÈN ẢNH CHỤP GIAO DIỆN WEB KHÁCH HÀNG TẠI ĐÂY]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Tính Năng Web Smash Zone - Giao Diện Quản Trị 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 i="0">
                <a:solidFill>
                  <a:srgbClr val="212529"/>
                </a:solidFill>
                <a:latin typeface="Segoe UI"/>
              </a:defRPr>
            </a:pPr>
            <a:r>
              <a:t>Chức năng quản trị và giám sát doanh nghiệp: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Biểu đồ trực quan hóa doanh số: Sử dụng thư viện Chart.js vẽ đồ thị doanh thu &amp; lợi nhuận hàng tháng.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Thống kê lợi nhuận thực tế: Tính toán dựa trên chênh lệch giữa giá bán và giá nhập (import_price) từ kho hàng.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Khắc phục lỗi strict mode ONLY_FULL_GROUP_BY của MySQL khi viết lệnh SQL thống kê bằng hàm gộp MIN(o.created_at) trong ORDER BY.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Quản lý CRUD sản phẩm (nhập kho, cập nhật metadata phục vụ AI) &amp; Quản lý đơn hàng, người dùng (Khóa/Mở khóa).</a:t>
            </a:r>
          </a:p>
          <a:p>
            <a:pPr>
              <a:spcBef>
                <a:spcPts val="6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- Bộ lọc an toàn (AdminFilter): Phân quyền ngăn chặn truy cập trái phép.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66315"/>
                </a:solidFill>
              </a:defRPr>
            </a:pPr>
            <a:r>
              <a:t>[CHÈN ẢNH CHỤP TRANG DASHBOARD ADMIN TẠI ĐÂY]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Segoe UI"/>
              </a:defRPr>
            </a:pPr>
            <a:r>
              <a:t>Hướng Dẫn Cấu Hình &amp; Khởi Chạy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Báo cáo Thực tập Cơ sở | SV: Do Hà Thanh Minh - B23DCCN543 | Đề tài: Smash Zone Recommender | PTIT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Bước 1: Thiết lập Cơ sở dữ liệu MySQL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Tạo DB badminton_shop. Import setup_import_price.sql và setup_test_data.sql để nạp dữ liệu kho, kịch bản hóa đơn test AI.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Bước 2: Cấu hình và chạy ứng dụng Web Java trên NetBeans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Import dự án. Chỉnh thông số tài khoản MySQL trong util/DBContext.java.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Cấu hình máy chủ Apache Tomcat (9.x/11.x). Nhấp Clean &amp; Build rồi bấm Run chạy dự án.</a:t>
            </a:r>
          </a:p>
          <a:p>
            <a:pPr>
              <a:spcBef>
                <a:spcPts val="1000"/>
              </a:spcBef>
              <a:defRPr sz="1500" b="1" i="0">
                <a:solidFill>
                  <a:srgbClr val="F66315"/>
                </a:solidFill>
                <a:latin typeface="Segoe UI"/>
              </a:defRPr>
            </a:pPr>
            <a:r>
              <a:t>Bước 3: Vận hành thuật toán gợi ý AI Python Engine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Di chuyển vào thư mục python. Cài đặt thư viện: pip install pandas scikit-learn mysql-connector-python.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Chạy script tính toán đồng bộ gợi ý: python recomment/thuat_toan_content.py.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212529"/>
                </a:solidFill>
                <a:latin typeface="Segoe UI"/>
              </a:defRPr>
            </a:pPr>
            <a:r>
              <a:t>  - Sau khi báo 'HOAN TAT!', tải lại trang chi tiết sản phẩm trên web để xem các đề xuất AI thông minh.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66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400" b="1" i="0">
                <a:solidFill>
                  <a:srgbClr val="F66315"/>
                </a:solidFill>
                <a:latin typeface="Segoe UI"/>
              </a:defRPr>
            </a:pPr>
            <a:r>
              <a:t>KẾT LUẬN &amp; ĐỊNH HƯỚNG PHÁT TRIỂN ĐỀ TÀI</a:t>
            </a:r>
          </a:p>
          <a:p>
            <a:pPr>
              <a:spcBef>
                <a:spcPts val="1400"/>
              </a:spcBef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1. Kết quả đạt được:</a:t>
            </a:r>
          </a:p>
          <a:p>
            <a:pPr>
              <a:spcBef>
                <a:spcPts val="600"/>
              </a:spcBef>
              <a:defRPr sz="1400" b="0" i="0">
                <a:solidFill>
                  <a:srgbClr val="FFFFFF"/>
                </a:solidFill>
                <a:latin typeface="Segoe UI"/>
              </a:defRPr>
            </a:pPr>
            <a:r>
              <a:t>   - Xây dựng thành công website Smash Zone hoàn chỉnh, responsive mượt mà, layout chuyên nghiệp.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FFFFFF"/>
                </a:solidFill>
                <a:latin typeface="Segoe UI"/>
              </a:defRPr>
            </a:pPr>
            <a:r>
              <a:t>   - Hệ thống gợi ý lai (Hybrid) vận hành ổn định trên dữ liệu thực tế, xử lý trọn vẹn bài toán Cold Start.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FFFFFF"/>
                </a:solidFill>
                <a:latin typeface="Segoe UI"/>
              </a:defRPr>
            </a:pPr>
            <a:r>
              <a:t>   - Khắc phục hoàn toàn các lỗi hệ thống cũ (MySQL strict mode, lỗi Unicode tiếng Việt console/giao diện, sập trang 500).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FFFFFF"/>
                </a:solidFill>
                <a:latin typeface="Segoe UI"/>
              </a:defRPr>
            </a:pPr>
            <a:r>
              <a:t>   - Cơ chế Transaction nguyên tử khi Checkout hoạt động an toàn tuyệt đối, không gây thất thoát hàng tồn kho.</a:t>
            </a:r>
          </a:p>
          <a:p>
            <a:pPr>
              <a:spcBef>
                <a:spcPts val="1400"/>
              </a:spcBef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2. Định hướng phát triển tương lai:</a:t>
            </a:r>
          </a:p>
          <a:p>
            <a:pPr>
              <a:spcBef>
                <a:spcPts val="600"/>
              </a:spcBef>
              <a:defRPr sz="1400" b="0" i="0">
                <a:solidFill>
                  <a:srgbClr val="FFFFFF"/>
                </a:solidFill>
                <a:latin typeface="Segoe UI"/>
              </a:defRPr>
            </a:pPr>
            <a:r>
              <a:t>   - Real-time AI Engine: Nâng cấp luồng Python tính toán lại ma trận tương đồng thời gian thực khi Admin cập nhật sản phẩm.</a:t>
            </a:r>
          </a:p>
          <a:p>
            <a:pPr>
              <a:spcBef>
                <a:spcPts val="400"/>
              </a:spcBef>
              <a:defRPr sz="1400" b="0" i="0">
                <a:solidFill>
                  <a:srgbClr val="FFFFFF"/>
                </a:solidFill>
                <a:latin typeface="Segoe UI"/>
              </a:defRPr>
            </a:pPr>
            <a:r>
              <a:t>   - Tích hợp cổng thanh toán trực tuyến tự động (MoMo, VNPAY) nâng cao trải nghiệm thanh toán khép kín.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66315"/>
                </a:solidFill>
                <a:latin typeface="Segoe UI"/>
              </a:defRPr>
            </a:pPr>
            <a:r>
              <a:t>XIN CHÂN THÀNH CẢM ƠN HỘI ĐỒNG BẢO VỆ!</a:t>
            </a:r>
          </a:p>
          <a:p>
            <a:pPr algn="ctr">
              <a:spcBef>
                <a:spcPts val="2000"/>
              </a:spcBef>
              <a:defRPr sz="1800">
                <a:solidFill>
                  <a:srgbClr val="FFFFFF"/>
                </a:solidFill>
                <a:latin typeface="Segoe UI"/>
              </a:defRPr>
            </a:pPr>
            <a:r>
              <a:t>Em xin phép được tiếp thu các ý kiến đóng góp và trả lời câu hỏi vấn đáp từ Thầy/Cô.</a:t>
            </a:r>
          </a:p>
          <a:p>
            <a:pPr algn="ctr">
              <a:spcBef>
                <a:spcPts val="4000"/>
              </a:spcBef>
              <a:defRPr sz="1450">
                <a:solidFill>
                  <a:srgbClr val="FFFFFF"/>
                </a:solidFill>
                <a:latin typeface="Segoe UI"/>
              </a:defRPr>
            </a:pPr>
            <a:r>
              <a:t>Sinh viên thực hiện: Do Hà Thanh Minh  |  Mã SV: B23DCCN543</a:t>
            </a:r>
            <a:br/>
            <a:r>
              <a:t>Giảng viên hướng dẫn: ThS. Bùi Văn Kiên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