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66315"/>
                </a:solidFill>
                <a:latin typeface="Arial"/>
              </a:defRPr>
            </a:pPr>
            <a:r>
              <a:t>BÁO CÁO THỰC TẬP CƠ SỞ</a:t>
            </a:r>
          </a:p>
          <a:p>
            <a:pPr>
              <a:spcBef>
                <a:spcPts val="14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XÂY DỰNG WEBSITE CỬA HÀNG DỤNG CỤ CẦU LÔNG "SMASH ZONE"</a:t>
            </a:r>
            <a:br/>
            <a:r>
              <a:t>TÍCH HỢP HỆ THỐNG GỢI Ý SẢN PHẨM AI THÔNG MINH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Sinh viên thực hiện: Do Hà Thanh Minh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Mã sinh viên: B23DCCN543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Nhóm môn học: 06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Giảng viên hướng dẫn: ThS. Bùi Văn Kiên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t>Học viện Công nghệ Bưu chính Viễn thông (PTIT)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Đặt Vấn Đề &amp; Lý Do Chọn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Sự bùng nổ của bộ môn cầu lông tại Việt Nam kéo theo nhu cầu mua sắm thiết bị tăng mạnh.</a:t>
            </a:r>
          </a:p>
          <a:p>
            <a:pPr>
              <a:spcBef>
                <a:spcPts val="8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Sản phẩm cầu lông có thông số kỹ thuật động cực kỳ phức tạp và mang tính chuyên môn cao:</a:t>
            </a:r>
          </a:p>
          <a:p>
            <a:pPr>
              <a:spcBef>
                <a:spcPts val="400"/>
              </a:spcBef>
              <a:defRPr sz="1400" i="1">
                <a:solidFill>
                  <a:srgbClr val="282828"/>
                </a:solidFill>
                <a:latin typeface="Arial"/>
              </a:defRPr>
            </a:pPr>
            <a:r>
              <a:t>  - Vợt cầu lông: Trọng lượng (3U/4U/5U), độ cứng thân, mức căng tối đa, lối chơi (Công/Thủ).</a:t>
            </a:r>
          </a:p>
          <a:p>
            <a:pPr>
              <a:spcBef>
                <a:spcPts val="400"/>
              </a:spcBef>
              <a:defRPr sz="1400" i="1">
                <a:solidFill>
                  <a:srgbClr val="282828"/>
                </a:solidFill>
                <a:latin typeface="Arial"/>
              </a:defRPr>
            </a:pPr>
            <a:r>
              <a:t>  - Giày cầu lông: Phân khúc, chất liệu đế ngoài, công nghệ đệm giảm chấn.</a:t>
            </a:r>
          </a:p>
          <a:p>
            <a:pPr>
              <a:spcBef>
                <a:spcPts val="400"/>
              </a:spcBef>
              <a:defRPr sz="1400" i="1">
                <a:solidFill>
                  <a:srgbClr val="282828"/>
                </a:solidFill>
                <a:latin typeface="Arial"/>
              </a:defRPr>
            </a:pPr>
            <a:r>
              <a:t>  - Quả cầu lông: Tốc độ bay (74/75/76), chất liệu cánh cầu (lông vịt/ngỗng).</a:t>
            </a:r>
          </a:p>
          <a:p>
            <a:pPr>
              <a:spcBef>
                <a:spcPts val="8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Nỗi đau (Pain Point): Người chơi mới (Newbies) dễ hoang mang, không biết chọn sản phẩm phù hợp lối chơi.</a:t>
            </a:r>
          </a:p>
          <a:p>
            <a:pPr>
              <a:spcBef>
                <a:spcPts val="8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Hạn chế web truyền thống: Chỉ hiển thị danh sách tĩnh, thiếu cá nhân hóa và tư vấn thông minh.</a:t>
            </a:r>
          </a:p>
          <a:p>
            <a:pPr>
              <a:spcBef>
                <a:spcPts val="800"/>
              </a:spcBef>
              <a:defRPr sz="1500">
                <a:solidFill>
                  <a:srgbClr val="282828"/>
                </a:solidFill>
                <a:latin typeface="Arial"/>
              </a:defRPr>
            </a:pPr>
            <a:r>
              <a:t>Giải pháp Smash Zone: Tích hợp hệ thống gợi ý AI (Recommender System) tự động cá nhân hóa trải nghiệm khách hàng.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Tổng Quan Kiến Trúc Hệ Thống Gợi Ý Lai (Hybrid)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Hệ thống gợi ý của Smash Zone được thiết kế Lai (Hybrid Recommender System) kết hợp 3 khối kiến trúc: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1. Khối Content-Based Filtering (Lọc dựa trên nội dung):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Đề xuất sản phẩm tương đồng về thông số kỹ thuật và lối đánh với sản phẩm đang xem.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Toán học lõi: Mô hình TF-IDF &amp; Cosine Similarity (chạy offline trên Python).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2. Khối Collaborative Filtering (Lọc cộng tác dựa trên hành vi):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Đề xuất sản phẩm "thường được mua cùng nhau" (như mua vợt gợi ý quấn cán, bao vợt).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Tính toán real-time bằng các câu lệnh SQL JOIN lồng nhau phức tạp ở database.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3. Khối Trending Products (Xu hướng):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Đề xuất các sản phẩm bán chạy nhất hệ thống dựa trên hóa đơn.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Giải quyết triệt để bài toán "Khởi đầu lạnh" (Cold-Start) khi khách chưa đăng nhập.</a:t>
            </a:r>
          </a:p>
        </p:txBody>
      </p:sp>
      <p:pic>
        <p:nvPicPr>
          <p:cNvPr id="4" name="Picture 3" descr="hybrid_recommender_system_1781517339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Khối 1: Lọc Dựa Trên Nội Dung (Content-Based) - Toán Học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Thuật toán phân tích đặc trưng văn bản chứa trong thuộc tính metadata_for_ai của từng sản phẩm cầu lông.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1. Trích xuất đặc trưng văn bản với TF-IDF: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TF (Term Frequency): Tần suất từ mô tả xuất hiện trong sản phẩm gốc.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IDF (Inverse Document Frequency): Giảm trọng số từ thông dụng, tăng trọng số từ chuyên môn đặc thù (ví dụ: 'nặng đầu', 'thiên công', 'tru cushion').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TF-IDF = TF * IDF giúp chuyển đổi mô tả thô thành vector số.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2. Tính độ tương đồng Cosine (Cosine Similarity):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Đo góc giữa hai vector sản phẩm trong không gian đa chiều.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Điểm số nằm trong khoảng [0, 1]. Càng gần 1, hai sản phẩm càng giống nhau về thông số kỹ thuật và lối chơi.</a:t>
            </a:r>
          </a:p>
        </p:txBody>
      </p:sp>
      <p:pic>
        <p:nvPicPr>
          <p:cNvPr id="4" name="Picture 3" descr="cosine_similarity_diagram_1781517352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Khối 1: Quy Trình Tính Toán Offline Bằng Python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Quy trình xử lý độc lập của Python script (thuat_toan_content.py):</a:t>
            </a:r>
          </a:p>
          <a:p>
            <a:pPr>
              <a:spcBef>
                <a:spcPts val="6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Step 1: Kết nối MySQL database, đọc thông tin và tải chuỗi đặc trưng metadata_for_ai của tất cả sản phẩm.</a:t>
            </a:r>
          </a:p>
          <a:p>
            <a:pPr>
              <a:spcBef>
                <a:spcPts val="6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Step 2: Vector hóa chuỗi metadata bằng TfidfVectorizer (thư viện Scikit-learn).</a:t>
            </a:r>
          </a:p>
          <a:p>
            <a:pPr>
              <a:spcBef>
                <a:spcPts val="6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Step 3: Tính toán ma trận cosine_similarity giữa tất cả sản phẩm.</a:t>
            </a:r>
          </a:p>
          <a:p>
            <a:pPr>
              <a:spcBef>
                <a:spcPts val="6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Step 4: Lọc lấy Top 4 sản phẩm có điểm tương đồng cao nhất cho mỗi sản phẩm.</a:t>
            </a:r>
          </a:p>
          <a:p>
            <a:pPr>
              <a:spcBef>
                <a:spcPts val="6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Step 5: Thực hiện clearRecommendations() xóa kết quả cũ và nạp kết quả mới vào bảng product_recommendations.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Hiệu năng phản hồi: Việc tính toán thực hiện định kỳ và lưu sẵn kết quả, giúp Java Web Servlet truy xuất tức thì (&lt;50ms) mà không cần tính toán lại.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màn hình code Python thuật toán TF-IDF và Cosine.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màn hình console chạy script nạp thành công dữ liệu gợi 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ẢNH CHỤP CODE PYTHON &amp; CONSOLE TẠI ĐÂY]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Khối 2: Lọc Cộng Tác (Collaborative Filtering) Real-time Bằng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Nguyên lý: Khai thác hành vi mua chéo của các khách hàng có chung sở thích để đề xuất sản phẩm liên quan.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Giải thuật real-time: Không sử dụng Python offline mà sử dụng câu truy vấn SQL lồng nhau phức tạp chạy trực tiếp trên MySQL.</a:t>
            </a:r>
          </a:p>
          <a:p>
            <a:pPr>
              <a:spcBef>
                <a:spcPts val="10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Logic truy vấn SQL: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1. Lấy danh sách sản phẩm người dùng hiện tại đã mua.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2. Tìm các tài khoản khách hàng khác cũng đã mua sản phẩm đó.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3. Lấy tất cả hóa đơn của các khách hàng tương đồng đó.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4. Loại trừ các sản phẩm người dùng hiện tại đã mua rồi.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5. Group và sắp xếp theo số lượng mua giảm dần để lấy Top gợi ý.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code hàm getCollaborativeFilteringRecommendations() trong RecommendationDAO.java.</a:t>
            </a:r>
          </a:p>
        </p:txBody>
      </p:sp>
      <p:pic>
        <p:nvPicPr>
          <p:cNvPr id="4" name="Picture 3" descr="collaborative_filtering_diagram_1781517369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Khối 3: Trending Products &amp; Quy Trình Dự Phòng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1. Khối 3: Gợi ý Trending (Giải quyết bài toán Khởi đầu lạnh - Cold Start)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Khi người dùng mới chưa đăng nhập, chưa có dữ liệu vết hành vi.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Hàm getTrendingProducts(10) truy vấn từ database Top 10 sản phẩm bán chạy nhất hệ thống dựa trên hóa đơn thực tế.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2. Quy trình dự phòng Fallback Hybrid an toàn: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Khi vào trang chủ (Đã đăng nhập): Hiển thị đồng thời cả 3 khối (Xem gần đây, Mua kèm, Bán chạy).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Khi vào trang chi tiết sản phẩm: Tải gợi ý tương tự của mô hình TF-IDF từ CSDL.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Lớp dự phòng (Fallback): Nếu AI chưa chạy hoặc bảng recommendations trống, hệ thống tự động gọi gợi ý sản phẩm cùng danh mục (getProductsByCategoryId) để đảm bảo giao diện luôn đầy đủ.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code gọi Fallback danh mục trong ProductDetailServlet.java.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ẢNH CHỤP CODE CHUYỂN TIẾP/FALLBACK CỦA SERVLET TẠI ĐÂY]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Bảng So Sánh Các Phương Pháp &amp; Độ Đo Gợi Ý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79906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889504"/>
                <a:gridCol w="2889504"/>
                <a:gridCol w="2889504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Tiêu chí so sánh</a:t>
                      </a:r>
                    </a:p>
                  </a:txBody>
                  <a:tcPr>
                    <a:solidFill>
                      <a:srgbClr val="03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Content-Based Filtering</a:t>
                      </a:r>
                    </a:p>
                  </a:txBody>
                  <a:tcPr>
                    <a:solidFill>
                      <a:srgbClr val="03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Collaborative Filtering</a:t>
                      </a:r>
                    </a:p>
                  </a:txBody>
                  <a:tcPr>
                    <a:solidFill>
                      <a:srgbClr val="0312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Trending/Popularity-Based</a:t>
                      </a:r>
                    </a:p>
                  </a:txBody>
                  <a:tcPr>
                    <a:solidFill>
                      <a:srgbClr val="0312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Bản chất gợi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Dựa trên đặc trưng sản phẩm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Dựa trên hành vi mua sắm chéo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Dựa trên số lượng bán 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Độ đo tối 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Cosine Similarity, Jaccard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Precision@K, Recall@K,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Lượt mua (COUNT),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Vấn đề 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Không gặp (chỉ cần metadata)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Gặp nghiêm trọng (cần lịch sử)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Không gặp (dùng làm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Độ cá nhân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Cao (đúng gu kỹ thuật)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Rất cao (khai phá nhu cầu ẩn)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Thấp (áp dụng chung)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Độ phức tạp tính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Trung bình (tính 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Cao (SQL lồng real-time)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Thấp (truy vấn SQL đơn giản)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31230"/>
                          </a:solidFill>
                        </a:defRPr>
                      </a:pPr>
                      <a:r>
                        <a:t>Khả năng mở rộng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Dễ dàng thêm sản phẩm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Khó khăn khi số lượng user tăng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Cực kỳ dễ dàng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Kiến Trúc Hệ Thống MVC &amp; 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1. Kiến trúc phần mềm chuẩn MVC (Model-View-Controller) Java Web: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View: Trang JSP động, JSTL 1.2, Bootstrap 5, Vanilla CSS.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Controller: Java Servlet nhận yêu cầu, xử lý và forward dữ liệu.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Model: Lớp thực thể Beans ánh xạ CSDL &amp; Tầng DAO thực thi JDBC kết nối MySQL.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AI Engine: Kịch bản Python 3.x sử dụng Pandas và Scikit-learn.</a:t>
            </a:r>
          </a:p>
          <a:p>
            <a:pPr>
              <a:spcBef>
                <a:spcPts val="10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2. Thiết kế Cơ sở dữ liệu chuẩn hóa gồm 7 bảng: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users (quản lý tài khoản và quyền role).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categories &amp; products (danh mục &amp; thông số kỹ thuật sản phẩm).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orders &amp; order_details (quản lý giao dịch mua hàng).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user_interactions (vết tương tác: VIEW=1, ADD_TO_CART=3, PURCHASE=5).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 - product_recommendations (lưu trữ điểm độ tương đồng Cosine).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sơ đồ liên kết thực thể (ERD) của CSDL từ MySQL Workbench.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SƠ ĐỒ LƯỢC ĐỒ QUAN HỆ CSDL (ERD) TẠI ĐÂY]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Giao Dịch Đặt Hàng Nguyên Tử (Database Transaction)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Bài toán: Đặt hàng yêu cầu cập nhật đồng thời nhiều bảng (orders, order_details, products). Tránh lỗi mất toàn vẹn dữ liệu (ví dụ: tạo hóa đơn thành công nhưng sập server không trừ kho hoặc kho hàng bị âm).</a:t>
            </a:r>
          </a:p>
          <a:p>
            <a:pPr>
              <a:spcBef>
                <a:spcPts val="8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Giải pháp: Áp dụng cơ chế Database Transaction (ACID) nguyên tử trong OrderDAO.java.</a:t>
            </a:r>
          </a:p>
          <a:p>
            <a:pPr>
              <a:spcBef>
                <a:spcPts val="8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Quy trình xử lý an toàn: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1. Tắt cơ chế tự động commit: conn.setAutoCommit(false);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2. Thêm đơn hàng vào orders -&gt; lấy mã ID tự động phát sinh.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3. Thêm chi tiết đơn hàng bằng Batch Execution để tối ưu hiệu năng.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4. Trừ kho bằng UPDATE Batch sử dụng hàm toán học bảo vệ: quantity = GREATEST(0, quantity - ?) (đảm bảo kho không âm).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5. Nếu toàn bộ thành công -&gt; conn.commit();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6. Nếu xảy ra SQLException -&gt; conn.rollback(); lập tức khôi phục DB.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code hàm checkout() trong OrderDAO.java (đoạn commit/rollback).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ẢNH CHỤP MÃ NGUỒN TRANSACTION CHECKOUT TRONG ORDERDAO TẠI ĐÂY]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Tính Năng Web Smash Zone - Giao Diện Khách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Các tính năng chính phục vụ khách hàng: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Đăng ký/Đăng nhập: Băm mật khẩu MD5 bảo mật dữ liệu, quản lý hồ sơ thành viên (số điện thoại, ngày sinh, địa chỉ chi tiết).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Trang chủ tích hợp AI Recommender hiển thị 3 danh sách sản phẩm cá nhân hóa hấp dẫn.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Trang danh mục &amp; tìm kiếm sản phẩm: Lọc nhanh sản phẩm theo nhu cầu.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Trang chi tiết sản phẩm hiển thị thông số kỹ thuật động (Dynamic Specs): Tự động đọc thuộc tính JSON specific_attributes. Làm đẹp tiếng Việt không dấu thành có dấu ("Long vit" -&gt; "Lông vịt").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Quản lý giỏ hàng (Session) &amp; Thanh toán Checkout đặt hàng.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Xem lịch sử đơn hàng đã đặt.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màn hình giao diện Trang chủ hoặc Trang chi tiết sản phẩm (làm nổi bật phần thông số kỹ thuật và gợi ý sản phẩm tương đồng).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ẢNH CHỤP GIAO DIỆN WEB PHÍA KHÁCH HÀNG TẠI ĐÂY]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Tính Năng Web Smash Zone - Giao Diện Quản Trị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282828"/>
                </a:solidFill>
                <a:latin typeface="Arial"/>
              </a:defRPr>
            </a:pPr>
            <a:r>
              <a:t>Các chức năng quản lý tối ưu dành cho Admin: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Thống kê Doanh thu &amp; Lợi nhuận hàng tháng: Vẽ biểu đồ Chart.js trực quan. Sử dụng giá nhập import_price làm căn cứ tính lợi nhuận thực tế. Sắp xếp an toàn bằng MIN(o.created_at) vượt lỗi ONLY_FULL_GROUP_BY.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Quản lý danh mục (CRUD) và sản phẩm (CRUD): Cập nhật kho, giá bán, giá nhập và chuỗi metadata cho AI.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Quản lý đơn hàng: Xem chi tiết địa chỉ giao hàng và duyệt trạng thái đơn hàng.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Quản lý khách hàng: Khóa/Mở khóa tài khoản (Disabled status).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- Bảo mật AdminFilter: Ngăn truy cập trái phép phân hệ Admin.</a:t>
            </a:r>
          </a:p>
          <a:p>
            <a:pPr>
              <a:spcBef>
                <a:spcPts val="1200"/>
              </a:spcBef>
              <a:defRPr sz="1300" b="1">
                <a:solidFill>
                  <a:srgbClr val="F66315"/>
                </a:solidFill>
                <a:latin typeface="Arial"/>
              </a:defRPr>
            </a:pPr>
            <a:r>
              <a:t>[GHI CHÚ CHỤP ẢNH CHÈN VÀO BÊN PHẢI]:</a:t>
            </a:r>
          </a:p>
          <a:p>
            <a:pPr>
              <a:spcBef>
                <a:spcPts val="6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  - Chụp ảnh màn hình giao diện Dashboard Admin chứa biểu đồ Chart.js thống kê hoặc trang Quản lý sản phẩm.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66315"/>
                </a:solidFill>
              </a:defRPr>
            </a:pPr>
            <a:r>
              <a:t>[CHÈN ẢNH CHỤP GIAO DIỆN DASHBOARD ADMIN VÀ CHART.JS TẠI ĐÂY]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Hướng Dẫn Cài Đặt &amp; Vận Hành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Hệ thống vận hành song song trên 2 môi trường chính:</a:t>
            </a:r>
          </a:p>
          <a:p>
            <a:pPr>
              <a:spcBef>
                <a:spcPts val="1000"/>
              </a:spcBef>
              <a:defRPr sz="1400" b="1">
                <a:solidFill>
                  <a:srgbClr val="F66315"/>
                </a:solidFill>
                <a:latin typeface="Arial"/>
              </a:defRPr>
            </a:pPr>
            <a:r>
              <a:t>Bước 1: Cấu hình Cơ sở dữ liệu MySQL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Tạo database badminton_shop. Thực thi file setup_import_price.sql thêm cột giá nhập.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Thực thi file setup_test_data.sql tạo sẵn dữ liệu sản phẩm, tài khoản và lịch sử giao dịch mẫu.</a:t>
            </a:r>
          </a:p>
          <a:p>
            <a:pPr>
              <a:spcBef>
                <a:spcPts val="1000"/>
              </a:spcBef>
              <a:defRPr sz="1400" b="1">
                <a:solidFill>
                  <a:srgbClr val="F66315"/>
                </a:solidFill>
                <a:latin typeface="Arial"/>
              </a:defRPr>
            </a:pPr>
            <a:r>
              <a:t>Bước 2: Cấu hình ứng dụng Web trên NetBeans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Mở dự án trong NetBeans IDE. Cấu hình máy chủ Apache Tomcat (9.x hoặc 11.x).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Chỉnh sửa thông số kết nối MySQL (URL, Username, Password) trong file DBContext.java.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Clean and Build dự án Java Web và chọn Run để khởi chạy trên cổng localhost.</a:t>
            </a:r>
          </a:p>
          <a:p>
            <a:pPr>
              <a:spcBef>
                <a:spcPts val="1000"/>
              </a:spcBef>
              <a:defRPr sz="1400" b="1">
                <a:solidFill>
                  <a:srgbClr val="F66315"/>
                </a:solidFill>
                <a:latin typeface="Arial"/>
              </a:defRPr>
            </a:pPr>
            <a:r>
              <a:t>Bước 3: Cài đặt và chạy thuật toán AI Engine bằng Python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Di chuyển vào thư mục python. Cài đặt các thư viện: pip install pandas scikit-learn mysql-connector-python.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Chạy script Python để nạp gợi ý: python recomment/thuat_toan_content.py.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- Script sẽ báo hoàn tất và đồng bộ 520 gợi ý vào MySQL.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1230"/>
                </a:solidFill>
                <a:latin typeface="Arial"/>
              </a:defRPr>
            </a:pPr>
            <a:r>
              <a:t>Kết Quả Đạt Được &amp; Hướng Phát Triển Tương 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F66315"/>
                </a:solidFill>
                <a:latin typeface="Arial"/>
              </a:defRPr>
            </a:pPr>
            <a:r>
              <a:t>1. Kết quả đạt được: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Xây dựng hoàn chỉnh website thương mại điện tử Smash Zone, giao diện hiện đại thể thao, responsive mượt mà.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Tích hợp thành công hệ thống gợi ý lai (Hybrid Recommender System) chạy trơn tru trên thực tế, giải quyết được bài toán Cold Start.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Khắc phục hoàn toàn các lỗi hệ thống cũ (strict mode MySQL ONLY_FULL_GROUP_BY, lỗi hiển thị font UTF-8, lỗi sập trang 500 khi URL truyền sai tham số).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Đảm bảo tính toàn vẹn dữ liệu kho hàng tuyệt đối nhờ đóng gói Transaction trong Checkout.</a:t>
            </a:r>
          </a:p>
          <a:p>
            <a:pPr>
              <a:spcBef>
                <a:spcPts val="1200"/>
              </a:spcBef>
              <a:defRPr sz="1400" b="1">
                <a:solidFill>
                  <a:srgbClr val="F66315"/>
                </a:solidFill>
                <a:latin typeface="Arial"/>
              </a:defRPr>
            </a:pPr>
            <a:r>
              <a:t>2. Định hướng phát triển tương lai: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Tự động hóa tiến trình Python: Tự động kích hoạt tính toán lại ma trận tương đồng (real-time) ngay khi Admin thêm sản phẩm mới hoặc khi khách hàng phát sinh tương tác thay vì chạy định kỳ offline.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t>   - Tích hợp các cổng thanh toán trực tuyến phổ biến (VNPAY, MoMo) để mang lại quy trình khép kín, tiện lợi.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66315"/>
                </a:solidFill>
                <a:latin typeface="Arial"/>
              </a:defRPr>
            </a:pPr>
            <a:r>
              <a:t>XIN CHÂN THÀNH CẢM ƠN HỘI ĐỒNG BẢO VỆ!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Em xin phép được tiếp thu các ý kiến đóng góp và trả lời các câu hỏi từ Thầy/Cô.</a:t>
            </a:r>
          </a:p>
          <a:p>
            <a:pPr algn="ctr">
              <a:spcBef>
                <a:spcPts val="40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Sinh viên thực hiện: Do Hà Thanh Minh - B23DCCN543</a:t>
            </a:r>
            <a:br/>
            <a:r>
              <a:t>Giáo viên hướng dẫn: ThS. Bùi Văn Kiên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