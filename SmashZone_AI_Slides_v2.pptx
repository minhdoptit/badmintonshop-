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66315"/>
                </a:solidFill>
                <a:latin typeface="Segoe UI"/>
              </a:defRPr>
            </a:pPr>
            <a:r>
              <a:t>BÁO CÁO MÔN HỌC THỰC TẬP CƠ SỞ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XÂY DỰNG WEBSITE CỬA HÀNG DỤNG CỤ CẦU LÔNG "SMASH ZONE"</a:t>
            </a:r>
            <a:br/>
            <a:r>
              <a:t>TÍCH HỢP HỆ THỐNG GỢI Ý SẢN PHẨM AI THÔNG MINH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Sinh viên thực hiện: Do Hà Thanh Minh</a:t>
            </a:r>
          </a:p>
          <a:p>
            <a:pPr>
              <a:spcBef>
                <a:spcPts val="6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t>Mã sinh viên: B23DCCN543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Nhóm môn học: 06  |  Giảng viên hướng dẫn: ThS. Bùi Văn Kiên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Khoa Công nghệ Thông tin 1 - Học viện Công nghệ Bưu chính Viễn thông (PTIT)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Năm thực hiện: Hà Nội,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Đặt Vấn Đề &amp; Lý Do Chọn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Sự bùng nổ của bộ môn cầu lông tại Việt Nam dẫn tới nhu cầu mua sắm thiết bị chính hãng tăng vọt.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Thách thức: Sản phẩm cầu lông mang thông số kỹ thuật động vô cùng phức tạp và chuyên môn cao:</a:t>
            </a:r>
          </a:p>
          <a:p>
            <a:pPr>
              <a:spcBef>
                <a:spcPts val="400"/>
              </a:spcBef>
              <a:defRPr sz="1450" b="0" i="1">
                <a:solidFill>
                  <a:srgbClr val="212529"/>
                </a:solidFill>
                <a:latin typeface="Segoe UI"/>
              </a:defRPr>
            </a:pPr>
            <a:r>
              <a:t>  - Vợt cầu lông: Trọng lượng (3U/4U/5U), độ cứng thân, mức căng tối đa, lối chơi (Công/Thủ).</a:t>
            </a:r>
          </a:p>
          <a:p>
            <a:pPr>
              <a:spcBef>
                <a:spcPts val="400"/>
              </a:spcBef>
              <a:defRPr sz="1450" b="0" i="1">
                <a:solidFill>
                  <a:srgbClr val="212529"/>
                </a:solidFill>
                <a:latin typeface="Segoe UI"/>
              </a:defRPr>
            </a:pPr>
            <a:r>
              <a:t>  - Giày cầu lông: Công nghệ đế, đệm giảm chấn hấp thụ lực va chạm khi bật nhảy đập cầu.</a:t>
            </a:r>
          </a:p>
          <a:p>
            <a:pPr>
              <a:spcBef>
                <a:spcPts val="400"/>
              </a:spcBef>
              <a:defRPr sz="1450" b="0" i="1">
                <a:solidFill>
                  <a:srgbClr val="212529"/>
                </a:solidFill>
                <a:latin typeface="Segoe UI"/>
              </a:defRPr>
            </a:pPr>
            <a:r>
              <a:t>  - Ống cầu lông: Tốc độ bay (74/75/76), chất liệu cánh cầu (lông ngỗng dai hơn, lông vịt đi nhanh).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Nỗi đau của khách hàng (Pain Point): Người chơi mới (Newbies) cực kỳ hoang mang, không thể chọn được sản phẩm phù hợp lối đánh cá nhân.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Hạn chế website cũ: Hiển thị danh sách tĩnh thô sơ, hoàn toàn thiếu tính cá nhân hóa hỗ trợ mua sắm.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Mục tiêu đề tài: Xây dựng cửa hàng Smash Zone tích hợp AI Recommender System làm trợ lý mua sắm đắc lực.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Tổng Quan Hệ Thống Gợi Ý Lai (Hybrid Recommender)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50" b="0" i="0">
                <a:solidFill>
                  <a:srgbClr val="212529"/>
                </a:solidFill>
                <a:latin typeface="Segoe UI"/>
              </a:defRPr>
            </a:pPr>
            <a:r>
              <a:t>Smash Zone áp dụng giải pháp lai ghép (Hybrid Recommender System) để khắc phục nhược điểm của từng thuật toán đơn lẻ: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1. Content-Based Filtering (Lọc dựa trên nội dung):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Đề xuất sản phẩm tương đồng lối đánh/thông số kỹ thuật động với sản phẩm khách vừa xem.</a:t>
            </a:r>
          </a:p>
          <a:p>
            <a:pPr>
              <a:spcBef>
                <a:spcPts val="2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Sử dụng mô hình TF-IDF &amp; Cosine Similarity chạy bằng Python.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2. Collaborative Filtering (Lọc cộng tác dựa trên hành vi):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Gợi ý sản phẩm "thường được mua cùng nhau" dựa trên thói quen mua sắm chéo của cộng đồng.</a:t>
            </a:r>
          </a:p>
          <a:p>
            <a:pPr>
              <a:spcBef>
                <a:spcPts val="2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Tính toán real-time qua SQL lồng nhau ở tầng Database.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3. Trending Products (Sản phẩm bán chạy):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Giải quyết bài toán "Khởi đầu lạnh" (Cold-Start) cho khách mới truy cập chưa đăng nhập.</a:t>
            </a:r>
          </a:p>
        </p:txBody>
      </p:sp>
      <p:pic>
        <p:nvPicPr>
          <p:cNvPr id="7" name="Picture 6" descr="hybrid_recommender_system_1781517339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Khối 1: Lọc Dựa Trên Nội Dung - Cơ Chế Vector Hóa 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t>Bài toán đặt ra: Làm sao máy tính hiểu được mô tả bằng chữ để so khớp độ giống nhau giữa các dụng cụ cầu lông?</a:t>
            </a:r>
          </a:p>
          <a:p>
            <a:pPr>
              <a:spcBef>
                <a:spcPts val="1000"/>
              </a:spcBef>
              <a:defRPr sz="1450" b="0" i="0">
                <a:solidFill>
                  <a:srgbClr val="212529"/>
                </a:solidFill>
                <a:latin typeface="Segoe UI"/>
              </a:defRPr>
            </a:pPr>
            <a:r>
              <a:t>Giải pháp: Áp dụng thuật toán TF-IDF (Term Frequency - Inverse Document Frequency) để vector hóa: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TF (Tần suất xuất hiện): Từ khóa kỹ thuật xuất hiện càng nhiều trong sản phẩm đó thì có trọng số càng lớn.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IDF (Tần suất nghịch đảo): Giảm trọng số của các từ chung chung (như 'sản phẩm', 'đẹp', 'chính hãng') xuất hiện ở mọi nơi; đồng thời tăng vọt trọng số của các từ chuyên sâu đặc thù ('nặng đầu', 'thiên công', 'tru cushion', 'căng dây 28lbs').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Trọng số TF-IDF: Chuyển đổi chuỗi văn bản đặc trưng sản phẩm thành một vector số học đại diện trong không gian đa chiều.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93192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F66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192F"/>
                </a:solidFill>
                <a:latin typeface="Segoe UI"/>
              </a:defRPr>
            </a:pPr>
            <a:r>
              <a:t>Ví Dụ Chuỗi Mô Tả Metadata For AI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"Vợt cầu lông Yonex Astrox Lite 45i Scarlet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Danh mục: Vợt cầu lông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Thông số: Trọng lượng 4U Độ cứng Trung bình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Mức căng 20-28 lbs Lối chơi Thiên công"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==&gt; Chuyển đổi thành vector số dựa trên các từ khóa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   chuyên ngành cốt lõi đã được tính toán trọng số TF-IDF.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Khối 1: Công Thức Toán Học Tính Độ Tương Đồng Cosine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Sau khi có các vector số TF-IDF đại diện cho từng sản phẩm, hệ thống tính toán góc lệch giữa chúng trong không gian đa chiều.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Công thức toán học tính Cosine Similarity: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Tích vô hướng chia cho tích độ dài hai vector A và B:</a:t>
            </a:r>
          </a:p>
          <a:p>
            <a:pPr>
              <a:spcBef>
                <a:spcPts val="400"/>
              </a:spcBef>
              <a:defRPr sz="1450" b="1" i="0">
                <a:solidFill>
                  <a:srgbClr val="0A192F"/>
                </a:solidFill>
                <a:latin typeface="Segoe UI"/>
              </a:defRPr>
            </a:pPr>
            <a:r>
              <a:t>    Cosine Similarity(A, B) = (A . B) / (||A|| * ||B||)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Ý nghĩa điểm số: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Kết quả là điểm số nằm trong khoảng [0, 1].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Điểm càng gần 1 thể hiện hai sản phẩm có thông số kỹ thuật động và lối đánh cực kỳ giống nhau.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Điểm bằng 0: Hai sản phẩm hoàn toàn khác biệt nhau.</a:t>
            </a:r>
          </a:p>
        </p:txBody>
      </p:sp>
      <p:pic>
        <p:nvPicPr>
          <p:cNvPr id="7" name="Picture 6" descr="cosine_similarity_diagram_1781517352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Khối 1: Quy Trình Triển Khai Trên Python AI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t>Luồng xử lý khép kín của Python Script (thuat_toan_content.py):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1. Kết nối DB MySQL: Đọc thông tin bảng products lấy cột metadata_for_ai của toàn bộ sản phẩm.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2. Vector hóa: Khởi tạo TfidfVectorizer từ thư viện Scikit-learn để vector hóa toàn bộ tập văn bản.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3. Tính toán tương đồng: Gọi cosine_similarity để tính toán nhanh ma trận khoảng cách tương đồng giữa mọi cặp sản phẩm.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4. Nạp vào MySQL: Xóa bảng cũ bằng clearRecommendations(). Chạy vòng lặp lưu Top 4 gợi ý giống nhất cho mỗi sản phẩm vào bảng product_recommendations.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5. Triển khai Java Web: Khi người dùng click sản phẩm A, Servlet truy vấn nhanh bảng product_recommendations, lấy thông tin và xuất ra màn hình chi tiết sản phẩm.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ẢNH CHỤP CODE PYTHON &amp; CONSOLE TẠI ĐÂY]</a:t>
            </a:r>
          </a:p>
          <a:p/>
          <a:p>
            <a:r>
              <a:t>(Ví dụ: Mã nguồn thuat_toan_content.py và cửa sổ terminal chạy báo hoàn tất 520 gợi ý vào CSDL)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Khối 2: Lọc Cộng Tác (Collaborative) Real-time Bằng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t>Mục tiêu: Đề xuất các sản phẩm mua chéo thông minh (như mua vợt gợi ý quấn cán, quấn vợt, giày cầu lông).</a:t>
            </a:r>
          </a:p>
          <a:p>
            <a:pPr>
              <a:spcBef>
                <a:spcPts val="1000"/>
              </a:spcBef>
              <a:defRPr sz="1450" b="0" i="0">
                <a:solidFill>
                  <a:srgbClr val="212529"/>
                </a:solidFill>
                <a:latin typeface="Segoe UI"/>
              </a:defRPr>
            </a:pPr>
            <a:r>
              <a:t>Cơ chế: Không chạy qua Python Engine offline định kỳ, mà chạy trực tiếp thời gian thực (Real-time) ngay trên Database MySQL.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Giải thuật truy vấn SQL lồng nhau gồm 5 bước: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Bước 1: Lấy các sản phẩm người dùng hiện tại đã mua.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Bước 2: Tìm các người dùng khác cùng mua tối thiểu một sản phẩm đó.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Bước 3: Lấy tất cả các hóa đơn của các người dùng tương đồng đó.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Bước 4: Lọc bỏ những sản phẩm người dùng hiện tại đã mua rồi.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Bước 5: Gom nhóm (GROUP BY) sản phẩm và sắp xếp theo lượt mua giảm dần.</a:t>
            </a:r>
          </a:p>
        </p:txBody>
      </p:sp>
      <p:pic>
        <p:nvPicPr>
          <p:cNvPr id="7" name="Picture 6" descr="collaborative_filtering_diagram_1781517369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Khối 3: Trending Products &amp; Cơ Chế Dự Phòng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1. Khối 3: Gợi ý Trending (Giải quyết Cold-Start)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Người dùng mới chưa đăng nhập $\rightarrow$ chưa có vết hành vi $\rightarrow$ các mô hình AI khác không có dữ liệu đầu vào.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Giải pháp: getTrendingProducts(10) lấy danh sách sản phẩm bán chạy nhất hệ thống dựa trên hóa đơn thực tế để lôi cuốn người dùng click.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2. Cơ chế dự phòng Fallback 3 lớp (Hybrid Fallback Flow):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Lớp 1 (Cá nhân hóa trang chủ): Ưu tiên hiển thị đồng thời cả 3 khối (Xem gần đây, Mua kèm, Trending).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Lớp 2 (Trang chi tiết): Gọi dữ liệu gợi ý tương đương TF-IDF Cosine.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Lớp 3 (Fallback an toàn): Nếu AI chưa chạy, Servlet tự động chuyển sang lấy sản phẩm cùng danh mục (getProductsByCategoryId, loại trừ chính nó) để bảo toàn giao diện.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ẢNH CHỤP CODE XỬ LÝ LUỒNG FALLBACK CỦA JAVA SERVLET TẠI ĐÂY]</a:t>
            </a:r>
          </a:p>
          <a:p/>
          <a:p>
            <a:r>
              <a:t>(Ví dụ: Mã nguồn ProductDetailServlet.java khi gọi Fallback cùng danh mục)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Bảng So Sánh Các Phương Pháp &amp; Độ Đo Gợi Ý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80160"/>
          <a:ext cx="1079906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2889504"/>
                <a:gridCol w="2889504"/>
                <a:gridCol w="2889504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Tiêu chí so sánh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Content-Based Filtering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Collaborative Filtering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Trending/Popularity-Based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Bản chất gợi 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Dựa trên đặc trưng sản phẩm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Dựa trên hành vi mua sắm chéo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Dựa trên số lượng bán 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Độ đo tối 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Cosine Similarity, Jaccard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Precision@K, Recall@K,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Lượt mua (COUNT), Doanh 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Vấn đề Cold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Không gặp (chỉ cần metadata)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Gặp nghiêm trọng (cần lịch sử)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Không gặp (dùng làm 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Độ cá nhân 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Cao (đúng gu kỹ thuật)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Rất cao (khai phá nhu cầu ẩn)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Thấp (áp dụng chung)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Độ phức tạp tính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Trung bình (tính 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Cao (SQL lồng real-time)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Thấp (truy vấn SQL đơn giản)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Khả năng mở rộng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Dễ dàng thêm sản phẩm mới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Khó khăn khi số lượng user tăng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Cực kỳ dễ dàng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Kiến Trúc Hệ Thống MVC &amp; Thiết Kế Cơ Sở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1. Kiến trúc phân mềm Java Web tiêu chuẩn MVC: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View: Trang JSP động, sử dụng thư viện thẻ JSTL 1.2, Bootstrap 5.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Controller: Các HttpServlet (Java Servlet) tiếp nhận và chuyển tiếp dữ liệu.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Model: JavaBeans thực thể &amp; Tầng DAO thực thi JDBC kết nối MySQL 8.0.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AI Engine: Python chạy độc lập truy vấn trực tiếp CSDL MySQL.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2. Thiết kế Cơ sở dữ liệu gồm 7 bảng chuẩn hóa: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users, categories, products (chứa JSON thông số động và metadata AI), orders, order_details, user_interactions, product_recommendations.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SƠ ĐỒ LƯỢC ĐỒ QUAN HỆ CSDL (ERD) TẠI ĐÂY]</a:t>
            </a:r>
          </a:p>
          <a:p/>
          <a:p>
            <a:r>
              <a:t>(Ví dụ: Sơ đồ thiết kế CSDL 7 bảng chính trong MySQL Workbench)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Quy Trình Đặt Hàng &amp; Giao Dịch An Toàn (Transaction)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Bài toán: Khi Checkout đơn hàng, hệ thống phải thực hiện 3 lệnh ghi xuống DB: thêm orders, thêm order_details và trừ products.quantity.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Rủi ro: Sập server ở bước trừ kho dẫn đến đơn hàng ảo, hoặc bị âm kho (Overselling) khi nhiều người mua cùng lúc.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Giải pháp ACID Transaction trong OrderDAO.java: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conn.setAutoCommit(false); // Bắt đầu giao dịch.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Chèn orders -&gt; Lấy generated keys -&gt; Chèn order_details bằng Batch.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Cập nhật số lượng kho bằng UPDATE Batch sử dụng hàm toán học bảo vệ: quantity = GREATEST(0, quantity - ?).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Thành công: conn.commit();  |  Lỗi SQLException: conn.rollback(); khôi phục sạch sẽ.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ẢNH CHỤP CODE TRANSACTION CHECKOUT TẠI ĐÂY]</a:t>
            </a:r>
          </a:p>
          <a:p/>
          <a:p>
            <a:r>
              <a:t>(Ví dụ: Hàm checkout() trong file OrderDAO.java sử dụng setAutoCommit(false), commit, rollback)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Tính Năng Web Smash Zone - Giao Diện Khách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212529"/>
                </a:solidFill>
                <a:latin typeface="Segoe UI"/>
              </a:defRPr>
            </a:pPr>
            <a:r>
              <a:t>Các tính năng nổi bật phía Khách hàng: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Bảo mật đăng ký &amp; đăng nhập: Băm mật khẩu MD5, quản lý hồ sơ chi tiết (địa chỉ, điện thoại, ngày sinh).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Giao diện Trang chủ hiện đại phối màu Cam (#F66315) và Navy (#031230) năng động, hiển thị 3 hàng gợi ý AI.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Xem chi tiết sản phẩm hiển thị thông số kỹ thuật động (Dynamic Specs) bằng cách đọc trường JSON specific_attributes trong CSDL tùy theo loại Vợt, Giày hay Cầu.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Tiền xử lý dữ liệu: Tự động làm sạch hiển thị Unicode tiếng Việt có dấu đẹp mắt ('Long vit' -&gt; 'Lông vịt').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Quản lý giỏ hàng (Session-based), Checkout &amp; Xem lịch sử đơn hàng.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ẢNH CHỤP GIAO DIỆN WEB KHÁCH HÀNG TẠI ĐÂY]</a:t>
            </a:r>
          </a:p>
          <a:p/>
          <a:p>
            <a:r>
              <a:t>(Ví dụ: Giao diện trang chủ cá nhân hóa hoặc màn hình thông số kỹ thuật động của sản phẩm)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Tính Năng Web Smash Zone - Giao Diện Quản Trị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212529"/>
                </a:solidFill>
                <a:latin typeface="Segoe UI"/>
              </a:defRPr>
            </a:pPr>
            <a:r>
              <a:t>Chức năng quản trị và giám sát doanh nghiệp: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Biểu đồ trực quan hóa doanh số: Sử dụng thư viện Chart.js vẽ đồ thị doanh thu &amp; lợi nhuận hàng tháng.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Thống kê lợi nhuận thực tế: Tính toán dựa trên chênh lệch giữa giá bán và giá nhập (import_price) từ kho hàng.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Khắc phục lỗi strict mode ONLY_FULL_GROUP_BY của MySQL khi viết lệnh SQL thống kê bằng hàm gộp MIN(o.created_at) trong ORDER BY.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Quản lý CRUD sản phẩm (nhập kho, cập nhật metadata phục vụ AI) &amp; Quản lý đơn hàng, người dùng (Khóa/Mở khóa).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Bộ lọc an toàn (AdminFilter): Phân quyền ngăn chặn truy cập trái phép.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ẢNH CHỤP TRANG DASHBOARD ADMIN TẠI ĐÂY]</a:t>
            </a:r>
          </a:p>
          <a:p/>
          <a:p>
            <a:r>
              <a:t>(Ví dụ: Giao diện biểu đồ Chart.js thống kê Doanh thu &amp; Lợi nhuận hàng tháng)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Hướng Dẫn Cấu Hình &amp; Khởi Chạy Dự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Học viện Công nghệ Bưu chính Viễn thông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Bước 1: Thiết lập Cơ sở dữ liệu MySQL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Tạo DB badminton_shop. Import setup_import_price.sql và setup_test_data.sql để nạp dữ liệu kho, kịch bản hóa đơn test AI.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Bước 2: Cấu hình và chạy ứng dụng Web Java trên NetBeans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Import dự án. Chỉnh thông số tài khoản MySQL trong util/DBContext.java.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Cấu hình máy chủ Apache Tomcat (9.x/11.x). Nhấp Clean &amp; Build rồi bấm Run chạy dự án.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Bước 3: Vận hành thuật toán gợi ý AI Python Engine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Di chuyển vào thư mục python. Cài đặt thư viện: pip install pandas scikit-learn mysql-connector-python.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Chạy script tính toán đồng bộ gợi ý: python recomment/thuat_toan_content.py.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Sau khi báo 'HOAN TAT!', tải lại trang chi tiết sản phẩm trên web để xem các đề xuất AI thông minh.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400" b="1" i="0">
                <a:solidFill>
                  <a:srgbClr val="F66315"/>
                </a:solidFill>
                <a:latin typeface="Segoe UI"/>
              </a:defRPr>
            </a:pPr>
            <a:r>
              <a:t>KẾT LUẬN &amp; ĐỊNH HƯỚNG PHÁT TRIỂN ĐỀ TÀI</a:t>
            </a:r>
          </a:p>
          <a:p>
            <a:pPr>
              <a:spcBef>
                <a:spcPts val="1400"/>
              </a:spcBef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1. Kết quả đạt được:</a:t>
            </a:r>
          </a:p>
          <a:p>
            <a:pPr>
              <a:spcBef>
                <a:spcPts val="6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Xây dựng thành công website Smash Zone hoàn chỉnh, responsive mượt mà, layout chuyên nghiệp.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Hệ thống gợi ý lai (Hybrid) vận hành ổn định trên dữ liệu thực tế, xử lý trọn vẹn bài toán Cold Start.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Khắc phục triệt để các lỗi cũ (MySQL strict mode, lỗi Unicode tiếng Việt console/giao diện, sập trang 500).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Cơ chế Transaction nguyên tử khi Checkout hoạt động an toàn tuyệt đối, không gây thất thoát hàng tồn kho.</a:t>
            </a:r>
          </a:p>
          <a:p>
            <a:pPr>
              <a:spcBef>
                <a:spcPts val="1400"/>
              </a:spcBef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2. Định hướng phát triển tương lai:</a:t>
            </a:r>
          </a:p>
          <a:p>
            <a:pPr>
              <a:spcBef>
                <a:spcPts val="6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Real-time AI Engine: Nâng cấp luồng Python tính toán lại ma trận tương đồng thời gian thực khi Admin cập nhật sản phẩm.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Tích hợp cổng thanh toán trực tuyến tự động (MoMo, VNPAY) nâng cao trải nghiệm thanh toán khép kín.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66315"/>
                </a:solidFill>
                <a:latin typeface="Segoe UI"/>
              </a:defRPr>
            </a:pPr>
            <a:r>
              <a:t>XIN CHÂN THÀNH CẢM ƠN HỘI ĐỒNG BẢO VỆ!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Em xin phép được tiếp thu các ý kiến đóng góp và trả lời câu hỏi vấn đáp từ Thầy/Cô.</a:t>
            </a:r>
          </a:p>
          <a:p>
            <a:pPr algn="ctr">
              <a:spcBef>
                <a:spcPts val="4000"/>
              </a:spcBef>
              <a:defRPr sz="1450">
                <a:solidFill>
                  <a:srgbClr val="FFFFFF"/>
                </a:solidFill>
                <a:latin typeface="Segoe UI"/>
              </a:defRPr>
            </a:pPr>
            <a:r>
              <a:t>Sinh viên thực hiện: Do Hà Thanh Minh  |  Mã SV: B23DCCN543</a:t>
            </a:r>
            <a:br/>
            <a:r>
              <a:t>Giảng viên hướng dẫn: ThS. Bùi Văn Kiên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